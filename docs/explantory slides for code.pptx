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359" r:id="rId3"/>
    <p:sldId id="373" r:id="rId4"/>
    <p:sldId id="360" r:id="rId5"/>
    <p:sldId id="366" r:id="rId6"/>
    <p:sldId id="367" r:id="rId7"/>
    <p:sldId id="368" r:id="rId8"/>
    <p:sldId id="381" r:id="rId9"/>
    <p:sldId id="377" r:id="rId10"/>
    <p:sldId id="382" r:id="rId11"/>
    <p:sldId id="383" r:id="rId12"/>
    <p:sldId id="384" r:id="rId13"/>
    <p:sldId id="378" r:id="rId14"/>
    <p:sldId id="379" r:id="rId15"/>
    <p:sldId id="380" r:id="rId16"/>
    <p:sldId id="353" r:id="rId17"/>
    <p:sldId id="386" r:id="rId18"/>
    <p:sldId id="354" r:id="rId19"/>
    <p:sldId id="355" r:id="rId20"/>
    <p:sldId id="358" r:id="rId21"/>
    <p:sldId id="357" r:id="rId22"/>
    <p:sldId id="362" r:id="rId23"/>
    <p:sldId id="385" r:id="rId24"/>
    <p:sldId id="364" r:id="rId25"/>
    <p:sldId id="370" r:id="rId26"/>
    <p:sldId id="371" r:id="rId27"/>
    <p:sldId id="372" r:id="rId28"/>
    <p:sldId id="374" r:id="rId29"/>
    <p:sldId id="375" r:id="rId30"/>
    <p:sldId id="376" r:id="rId31"/>
    <p:sldId id="369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00B2F84-9E26-4544-98C7-A5D7773B1A04}">
          <p14:sldIdLst>
            <p14:sldId id="256"/>
            <p14:sldId id="359"/>
            <p14:sldId id="373"/>
            <p14:sldId id="360"/>
            <p14:sldId id="366"/>
            <p14:sldId id="367"/>
            <p14:sldId id="368"/>
            <p14:sldId id="381"/>
            <p14:sldId id="377"/>
            <p14:sldId id="382"/>
            <p14:sldId id="383"/>
            <p14:sldId id="384"/>
            <p14:sldId id="378"/>
            <p14:sldId id="379"/>
            <p14:sldId id="380"/>
            <p14:sldId id="353"/>
            <p14:sldId id="386"/>
            <p14:sldId id="354"/>
            <p14:sldId id="355"/>
            <p14:sldId id="358"/>
            <p14:sldId id="357"/>
            <p14:sldId id="362"/>
            <p14:sldId id="385"/>
            <p14:sldId id="364"/>
            <p14:sldId id="370"/>
            <p14:sldId id="371"/>
            <p14:sldId id="372"/>
            <p14:sldId id="374"/>
            <p14:sldId id="375"/>
            <p14:sldId id="376"/>
            <p14:sldId id="3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2/28/2024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709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1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2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2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31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4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6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4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37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5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2/28/2024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8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try/download/community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manual/tutorial/query-document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v3.4/tutorial/query-array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ongodb.com/docs/manual/reference/operator/query/in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99A178-4635-0B19-FE58-12FD27C34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7979" y="507608"/>
            <a:ext cx="5068121" cy="4469363"/>
          </a:xfrm>
        </p:spPr>
        <p:txBody>
          <a:bodyPr anchor="ctr">
            <a:noAutofit/>
          </a:bodyPr>
          <a:lstStyle/>
          <a:p>
            <a:r>
              <a:rPr lang="en-US" sz="4000" dirty="0"/>
              <a:t>Code Explanation</a:t>
            </a:r>
            <a:endParaRPr lang="fr-FR" sz="4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B66092-A086-6835-62BE-A1E756D78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7979" y="5014666"/>
            <a:ext cx="5068121" cy="1136029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Pierre Quentin </a:t>
            </a:r>
            <a:r>
              <a:rPr lang="fr-FR" dirty="0" err="1"/>
              <a:t>Ngandjui</a:t>
            </a:r>
            <a:r>
              <a:rPr lang="fr-FR" dirty="0"/>
              <a:t> Tiako</a:t>
            </a:r>
          </a:p>
        </p:txBody>
      </p:sp>
      <p:pic>
        <p:nvPicPr>
          <p:cNvPr id="18" name="Picture 3" descr="Vue de dessus de l'espace de travail vert menthe avec ordinateur portable, café, bloc-notes, stylo, lunettes et souris">
            <a:extLst>
              <a:ext uri="{FF2B5EF4-FFF2-40B4-BE49-F238E27FC236}">
                <a16:creationId xmlns:a16="http://schemas.microsoft.com/office/drawing/2014/main" id="{CF9FC534-5B57-3726-C168-994D52ABC8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396" b="-1"/>
          <a:stretch/>
        </p:blipFill>
        <p:spPr>
          <a:xfrm>
            <a:off x="20" y="10"/>
            <a:ext cx="54044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5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9CCBE7-4B30-1AFF-7013-0E82FC54F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04139"/>
            <a:ext cx="9144000" cy="759131"/>
          </a:xfrm>
        </p:spPr>
        <p:txBody>
          <a:bodyPr/>
          <a:lstStyle/>
          <a:p>
            <a:r>
              <a:rPr lang="fr-FR" dirty="0"/>
              <a:t>Mongo DB </a:t>
            </a:r>
            <a:r>
              <a:rPr lang="fr-FR" dirty="0" err="1"/>
              <a:t>vocabulary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1AE8D-6583-A49F-9109-198266423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245658"/>
            <a:ext cx="9144000" cy="3127248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/>
              <a:t>Document</a:t>
            </a:r>
            <a:r>
              <a:rPr lang="fr-FR" dirty="0"/>
              <a:t> : </a:t>
            </a:r>
            <a:r>
              <a:rPr lang="fr-FR" dirty="0" err="1"/>
              <a:t>name</a:t>
            </a:r>
            <a:r>
              <a:rPr lang="fr-FR" dirty="0"/>
              <a:t> of a data </a:t>
            </a:r>
            <a:r>
              <a:rPr lang="fr-FR" dirty="0" err="1"/>
              <a:t>stored</a:t>
            </a:r>
            <a:r>
              <a:rPr lang="fr-FR" dirty="0"/>
              <a:t> in the </a:t>
            </a:r>
            <a:r>
              <a:rPr lang="fr-FR" dirty="0" err="1"/>
              <a:t>database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represented</a:t>
            </a:r>
            <a:r>
              <a:rPr lang="fr-FR" dirty="0"/>
              <a:t> a </a:t>
            </a:r>
            <a:r>
              <a:rPr lang="fr-FR" dirty="0" err="1"/>
              <a:t>a</a:t>
            </a:r>
            <a:r>
              <a:rPr lang="fr-FR" dirty="0"/>
              <a:t> JSON like format</a:t>
            </a:r>
          </a:p>
          <a:p>
            <a:r>
              <a:rPr lang="fr-FR" b="1" dirty="0"/>
              <a:t>Collection</a:t>
            </a:r>
            <a:r>
              <a:rPr lang="fr-FR" dirty="0"/>
              <a:t>: Set of documents</a:t>
            </a:r>
          </a:p>
          <a:p>
            <a:r>
              <a:rPr lang="en-US" b="1" dirty="0"/>
              <a:t>MongoDB Query </a:t>
            </a:r>
            <a:r>
              <a:rPr lang="en-US" dirty="0"/>
              <a:t>is </a:t>
            </a:r>
            <a:r>
              <a:rPr lang="en-US" b="1" dirty="0"/>
              <a:t>a way to get the data from the MongoDB database</a:t>
            </a:r>
            <a:r>
              <a:rPr lang="en-US" dirty="0"/>
              <a:t>. MongoDB queries provide the simplicity in process of fetching data from the database, it's similar to SQL queries in SQL Database language</a:t>
            </a:r>
          </a:p>
          <a:p>
            <a:r>
              <a:rPr lang="en-US" b="1" dirty="0"/>
              <a:t>Mongo Shell </a:t>
            </a:r>
            <a:r>
              <a:rPr lang="en-US" dirty="0"/>
              <a:t>: Mongo Client to interact in command line with your Mongo DB server</a:t>
            </a:r>
          </a:p>
          <a:p>
            <a:r>
              <a:rPr lang="en-US" b="1" dirty="0"/>
              <a:t>Mongo DB Compass</a:t>
            </a:r>
            <a:r>
              <a:rPr lang="en-US" dirty="0"/>
              <a:t>: a graphical interface to observe and interact with your database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872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C64E41-DF58-432A-29BB-0EDDCA53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151" y="1168280"/>
            <a:ext cx="9144000" cy="732238"/>
          </a:xfrm>
        </p:spPr>
        <p:txBody>
          <a:bodyPr/>
          <a:lstStyle/>
          <a:p>
            <a:r>
              <a:rPr lang="en-GB" dirty="0"/>
              <a:t>Software / functional architecture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3306FAC-04AD-7DB6-8220-8DBD8ABAEF9F}"/>
              </a:ext>
            </a:extLst>
          </p:cNvPr>
          <p:cNvSpPr txBox="1"/>
          <p:nvPr/>
        </p:nvSpPr>
        <p:spPr>
          <a:xfrm>
            <a:off x="5257800" y="2791197"/>
            <a:ext cx="1676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Mongo DB server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89BC1E-13E2-CF4E-1913-757D931E1282}"/>
              </a:ext>
            </a:extLst>
          </p:cNvPr>
          <p:cNvSpPr txBox="1"/>
          <p:nvPr/>
        </p:nvSpPr>
        <p:spPr>
          <a:xfrm>
            <a:off x="5490879" y="5800165"/>
            <a:ext cx="16674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Python Code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A68ADB2-DE77-B8A8-079F-27AE1FAB1514}"/>
              </a:ext>
            </a:extLst>
          </p:cNvPr>
          <p:cNvSpPr txBox="1"/>
          <p:nvPr/>
        </p:nvSpPr>
        <p:spPr>
          <a:xfrm>
            <a:off x="8931716" y="4410635"/>
            <a:ext cx="18407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MATLAB Code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38D658-C4DB-F96F-2D94-9075DBCB0324}"/>
              </a:ext>
            </a:extLst>
          </p:cNvPr>
          <p:cNvSpPr txBox="1"/>
          <p:nvPr/>
        </p:nvSpPr>
        <p:spPr>
          <a:xfrm>
            <a:off x="1524001" y="4410635"/>
            <a:ext cx="206188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Mongo Compass (Client)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3385125-6771-20CD-3B6B-B5A310188621}"/>
              </a:ext>
            </a:extLst>
          </p:cNvPr>
          <p:cNvSpPr txBox="1"/>
          <p:nvPr/>
        </p:nvSpPr>
        <p:spPr>
          <a:xfrm rot="5200304">
            <a:off x="6425450" y="4437920"/>
            <a:ext cx="1111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Initialize the database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67A649A-A56C-1547-AE67-0CF2CC4DF4F3}"/>
              </a:ext>
            </a:extLst>
          </p:cNvPr>
          <p:cNvCxnSpPr>
            <a:cxnSpLocks/>
          </p:cNvCxnSpPr>
          <p:nvPr/>
        </p:nvCxnSpPr>
        <p:spPr>
          <a:xfrm flipH="1">
            <a:off x="1739153" y="2913529"/>
            <a:ext cx="3518647" cy="1497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C5C38E8E-9F05-77E2-2B47-6D6FE715C4DA}"/>
              </a:ext>
            </a:extLst>
          </p:cNvPr>
          <p:cNvSpPr txBox="1"/>
          <p:nvPr/>
        </p:nvSpPr>
        <p:spPr>
          <a:xfrm rot="20210786">
            <a:off x="2704944" y="3344661"/>
            <a:ext cx="1822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Observe the database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6CB73327-DEB7-6BA9-E75D-B0F6327BD72A}"/>
              </a:ext>
            </a:extLst>
          </p:cNvPr>
          <p:cNvCxnSpPr>
            <a:cxnSpLocks/>
          </p:cNvCxnSpPr>
          <p:nvPr/>
        </p:nvCxnSpPr>
        <p:spPr>
          <a:xfrm flipV="1">
            <a:off x="2958353" y="3429000"/>
            <a:ext cx="2299447" cy="98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2ED6021B-6C78-68B0-7F2B-435C42C8573B}"/>
              </a:ext>
            </a:extLst>
          </p:cNvPr>
          <p:cNvSpPr txBox="1"/>
          <p:nvPr/>
        </p:nvSpPr>
        <p:spPr>
          <a:xfrm rot="20180677">
            <a:off x="3468341" y="3819217"/>
            <a:ext cx="192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Do small modifications for tests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E0CB857B-95CC-EAAD-827C-E1D157217FE2}"/>
              </a:ext>
            </a:extLst>
          </p:cNvPr>
          <p:cNvCxnSpPr>
            <a:cxnSpLocks/>
          </p:cNvCxnSpPr>
          <p:nvPr/>
        </p:nvCxnSpPr>
        <p:spPr>
          <a:xfrm>
            <a:off x="6934200" y="3299012"/>
            <a:ext cx="2209800" cy="111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89A0EBA-3A36-63FE-D844-C8C469ACBAAD}"/>
              </a:ext>
            </a:extLst>
          </p:cNvPr>
          <p:cNvSpPr txBox="1"/>
          <p:nvPr/>
        </p:nvSpPr>
        <p:spPr>
          <a:xfrm rot="1621625">
            <a:off x="6933064" y="3851282"/>
            <a:ext cx="1925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Load Data from the DB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75A51152-14AB-1AF1-0DEE-25C91DADAB76}"/>
              </a:ext>
            </a:extLst>
          </p:cNvPr>
          <p:cNvCxnSpPr/>
          <p:nvPr/>
        </p:nvCxnSpPr>
        <p:spPr>
          <a:xfrm flipH="1" flipV="1">
            <a:off x="6934200" y="2791197"/>
            <a:ext cx="3518647" cy="161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E066AD4F-47EC-0054-0E36-B13C4F060CD2}"/>
              </a:ext>
            </a:extLst>
          </p:cNvPr>
          <p:cNvSpPr txBox="1"/>
          <p:nvPr/>
        </p:nvSpPr>
        <p:spPr>
          <a:xfrm rot="1485537">
            <a:off x="7470422" y="3323514"/>
            <a:ext cx="2598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Apply modifications to the DB 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BBDDCAC-03C5-717C-9EB7-BB0E1CE2994E}"/>
              </a:ext>
            </a:extLst>
          </p:cNvPr>
          <p:cNvCxnSpPr/>
          <p:nvPr/>
        </p:nvCxnSpPr>
        <p:spPr>
          <a:xfrm flipH="1" flipV="1">
            <a:off x="6714565" y="3428998"/>
            <a:ext cx="71717" cy="2371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F69E752-6128-88C4-4A39-CDBED44BC77D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H="1" flipV="1">
            <a:off x="6096000" y="3437528"/>
            <a:ext cx="228597" cy="2362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34DDFB80-4881-CA34-08E8-8EDACE78410C}"/>
              </a:ext>
            </a:extLst>
          </p:cNvPr>
          <p:cNvSpPr txBox="1"/>
          <p:nvPr/>
        </p:nvSpPr>
        <p:spPr>
          <a:xfrm rot="5200304">
            <a:off x="5859936" y="4430441"/>
            <a:ext cx="1111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Upload Data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024B88F-952F-404D-84AD-D9661D101DEE}"/>
              </a:ext>
            </a:extLst>
          </p:cNvPr>
          <p:cNvCxnSpPr/>
          <p:nvPr/>
        </p:nvCxnSpPr>
        <p:spPr>
          <a:xfrm>
            <a:off x="5518484" y="3420472"/>
            <a:ext cx="220320" cy="2365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E2B51BA-5D4C-CA92-7054-B815063F17E2}"/>
              </a:ext>
            </a:extLst>
          </p:cNvPr>
          <p:cNvSpPr txBox="1"/>
          <p:nvPr/>
        </p:nvSpPr>
        <p:spPr>
          <a:xfrm rot="5200304">
            <a:off x="5269265" y="4466049"/>
            <a:ext cx="1111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Load Data</a:t>
            </a:r>
          </a:p>
        </p:txBody>
      </p:sp>
    </p:spTree>
    <p:extLst>
      <p:ext uri="{BB962C8B-B14F-4D97-AF65-F5344CB8AC3E}">
        <p14:creationId xmlns:p14="http://schemas.microsoft.com/office/powerpoint/2010/main" val="53374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29DB51-7303-F662-6778-6E56C9DD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884637"/>
          </a:xfrm>
        </p:spPr>
        <p:txBody>
          <a:bodyPr/>
          <a:lstStyle/>
          <a:p>
            <a:r>
              <a:rPr lang="fr-FR" dirty="0"/>
              <a:t>MongoDB installation process (local)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94D4D7-39CC-9E55-F076-FFD6BD06C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807" y="2519313"/>
            <a:ext cx="9144000" cy="3127248"/>
          </a:xfrm>
        </p:spPr>
        <p:txBody>
          <a:bodyPr/>
          <a:lstStyle/>
          <a:p>
            <a:r>
              <a:rPr lang="fr-FR" dirty="0"/>
              <a:t>Download </a:t>
            </a:r>
            <a:r>
              <a:rPr lang="fr-FR" dirty="0" err="1"/>
              <a:t>link</a:t>
            </a:r>
            <a:r>
              <a:rPr lang="fr-FR" dirty="0"/>
              <a:t>: </a:t>
            </a:r>
            <a:r>
              <a:rPr lang="fr-FR" dirty="0">
                <a:hlinkClick r:id="rId2"/>
              </a:rPr>
              <a:t>https://www.mongodb.com/try/download/community</a:t>
            </a:r>
            <a:endParaRPr lang="fr-FR" dirty="0"/>
          </a:p>
          <a:p>
            <a:r>
              <a:rPr lang="fr-FR" dirty="0"/>
              <a:t>Install the version for the system </a:t>
            </a:r>
            <a:r>
              <a:rPr lang="fr-FR" dirty="0" err="1"/>
              <a:t>where</a:t>
            </a:r>
            <a:r>
              <a:rPr lang="fr-FR" dirty="0"/>
              <a:t> the Mongo DB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host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285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E958F-8985-1679-DFCC-DAEABEB1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414" y="1017970"/>
            <a:ext cx="9144000" cy="552942"/>
          </a:xfrm>
        </p:spPr>
        <p:txBody>
          <a:bodyPr>
            <a:normAutofit fontScale="90000"/>
          </a:bodyPr>
          <a:lstStyle/>
          <a:p>
            <a:r>
              <a:rPr lang="fr-FR" dirty="0"/>
              <a:t>Windows Case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9673ECA-4640-2C02-8008-1BADC5665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681" y="2934431"/>
            <a:ext cx="3360711" cy="2629128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73344F3-5ED1-5DF1-6DAE-27516E635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703" y="3011082"/>
            <a:ext cx="3360711" cy="260626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9A468C0-1266-9D83-6BBE-9BE026AB6808}"/>
              </a:ext>
            </a:extLst>
          </p:cNvPr>
          <p:cNvSpPr txBox="1"/>
          <p:nvPr/>
        </p:nvSpPr>
        <p:spPr>
          <a:xfrm>
            <a:off x="1508938" y="1829332"/>
            <a:ext cx="846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Keep</a:t>
            </a:r>
            <a:r>
              <a:rPr lang="fr-FR" dirty="0"/>
              <a:t> the </a:t>
            </a:r>
            <a:r>
              <a:rPr lang="fr-FR" dirty="0" err="1"/>
              <a:t>given</a:t>
            </a:r>
            <a:r>
              <a:rPr lang="fr-FR" dirty="0"/>
              <a:t> </a:t>
            </a:r>
            <a:r>
              <a:rPr lang="fr-FR" dirty="0" err="1"/>
              <a:t>paremeters</a:t>
            </a:r>
            <a:r>
              <a:rPr lang="fr-FR" dirty="0"/>
              <a:t>, </a:t>
            </a:r>
            <a:r>
              <a:rPr lang="fr-FR" dirty="0" err="1"/>
              <a:t>complete</a:t>
            </a:r>
            <a:r>
              <a:rPr lang="fr-FR" dirty="0"/>
              <a:t> installation and run as a service (in </a:t>
            </a:r>
            <a:r>
              <a:rPr lang="fr-FR" dirty="0" err="1"/>
              <a:t>this</a:t>
            </a:r>
            <a:r>
              <a:rPr lang="fr-FR" dirty="0"/>
              <a:t> case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ensure</a:t>
            </a:r>
            <a:r>
              <a:rPr lang="fr-FR" dirty="0"/>
              <a:t> Mongo DB </a:t>
            </a:r>
            <a:r>
              <a:rPr lang="fr-FR" dirty="0" err="1"/>
              <a:t>will</a:t>
            </a:r>
            <a:r>
              <a:rPr lang="fr-FR" dirty="0"/>
              <a:t> start at the start of </a:t>
            </a:r>
            <a:r>
              <a:rPr lang="fr-FR" dirty="0" err="1"/>
              <a:t>your</a:t>
            </a:r>
            <a:r>
              <a:rPr lang="fr-FR" dirty="0"/>
              <a:t> machine)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1B247138-1B1D-C5F9-C044-0740055DB8D8}"/>
              </a:ext>
            </a:extLst>
          </p:cNvPr>
          <p:cNvSpPr/>
          <p:nvPr/>
        </p:nvSpPr>
        <p:spPr>
          <a:xfrm>
            <a:off x="5418637" y="3925829"/>
            <a:ext cx="1129553" cy="64633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09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CE961F-AB38-C4EC-27FD-8AAB9137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41386"/>
            <a:ext cx="9144000" cy="615696"/>
          </a:xfrm>
        </p:spPr>
        <p:txBody>
          <a:bodyPr>
            <a:normAutofit fontScale="90000"/>
          </a:bodyPr>
          <a:lstStyle/>
          <a:p>
            <a:r>
              <a:rPr lang="fr-FR" dirty="0"/>
              <a:t>Windows case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50000A-112F-9291-8CA9-7C3A8D45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151" y="2424953"/>
            <a:ext cx="5806261" cy="3127248"/>
          </a:xfrm>
        </p:spPr>
        <p:txBody>
          <a:bodyPr/>
          <a:lstStyle/>
          <a:p>
            <a:r>
              <a:rPr lang="fr-FR" dirty="0" err="1"/>
              <a:t>Keep</a:t>
            </a:r>
            <a:r>
              <a:rPr lang="fr-FR" dirty="0"/>
              <a:t> the installation of Mongo DB Compass,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for </a:t>
            </a:r>
            <a:r>
              <a:rPr lang="fr-FR" dirty="0" err="1"/>
              <a:t>small</a:t>
            </a:r>
            <a:r>
              <a:rPr lang="fr-FR" dirty="0"/>
              <a:t> modifications or </a:t>
            </a:r>
            <a:r>
              <a:rPr lang="fr-FR" dirty="0" err="1"/>
              <a:t>observing</a:t>
            </a:r>
            <a:r>
              <a:rPr lang="fr-FR" dirty="0"/>
              <a:t> the </a:t>
            </a:r>
            <a:r>
              <a:rPr lang="fr-FR" dirty="0" err="1"/>
              <a:t>effect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code on the </a:t>
            </a:r>
            <a:r>
              <a:rPr lang="fr-FR" dirty="0" err="1"/>
              <a:t>database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0EC897-B4BD-734E-DAC9-E70FD7AF3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904" y="2424953"/>
            <a:ext cx="3665365" cy="287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0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8681A3-3507-14ED-A84D-94DA156C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50351"/>
            <a:ext cx="9144000" cy="723272"/>
          </a:xfrm>
        </p:spPr>
        <p:txBody>
          <a:bodyPr/>
          <a:lstStyle/>
          <a:p>
            <a:r>
              <a:rPr lang="fr-FR" dirty="0"/>
              <a:t>Mongo DB Compass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A3763-B8C7-C85A-C4E5-C534F292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0" y="2191870"/>
            <a:ext cx="3499104" cy="3127248"/>
          </a:xfrm>
        </p:spPr>
        <p:txBody>
          <a:bodyPr>
            <a:normAutofit fontScale="92500"/>
          </a:bodyPr>
          <a:lstStyle/>
          <a:p>
            <a:r>
              <a:rPr lang="fr-FR" dirty="0" err="1"/>
              <a:t>When</a:t>
            </a:r>
            <a:r>
              <a:rPr lang="fr-FR" dirty="0"/>
              <a:t> Mongo server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installed</a:t>
            </a:r>
            <a:r>
              <a:rPr lang="fr-FR" dirty="0"/>
              <a:t> </a:t>
            </a:r>
            <a:r>
              <a:rPr lang="fr-FR" dirty="0" err="1"/>
              <a:t>locally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don’t</a:t>
            </a:r>
            <a:r>
              <a:rPr lang="fr-FR" dirty="0"/>
              <a:t> have to </a:t>
            </a:r>
            <a:r>
              <a:rPr lang="fr-FR" dirty="0" err="1"/>
              <a:t>modify</a:t>
            </a:r>
            <a:r>
              <a:rPr lang="fr-FR" dirty="0"/>
              <a:t> </a:t>
            </a:r>
            <a:r>
              <a:rPr lang="fr-FR" dirty="0" err="1"/>
              <a:t>anything</a:t>
            </a:r>
            <a:endParaRPr lang="fr-FR" dirty="0"/>
          </a:p>
          <a:p>
            <a:r>
              <a:rPr lang="fr-FR" dirty="0"/>
              <a:t>Just </a:t>
            </a:r>
            <a:r>
              <a:rPr lang="fr-FR" dirty="0" err="1"/>
              <a:t>connect</a:t>
            </a:r>
            <a:r>
              <a:rPr lang="fr-FR" dirty="0"/>
              <a:t> to: mongodb://localhost:27017/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9D5DE3-213F-0CFD-C752-536A9D6DD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62" y="2191870"/>
            <a:ext cx="5714242" cy="326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7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27569-A021-B5E5-9526-BA6E7198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14492"/>
            <a:ext cx="9144000" cy="830849"/>
          </a:xfrm>
        </p:spPr>
        <p:txBody>
          <a:bodyPr/>
          <a:lstStyle/>
          <a:p>
            <a:r>
              <a:rPr lang="fr-FR" dirty="0"/>
              <a:t>Mongo DB Compass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F9D7C7-0929-D902-BD93-B00955D0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7269" y="2270863"/>
            <a:ext cx="3863789" cy="3127248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 the </a:t>
            </a:r>
            <a:r>
              <a:rPr lang="fr-FR" dirty="0" err="1"/>
              <a:t>effect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program on the </a:t>
            </a:r>
            <a:r>
              <a:rPr lang="fr-FR" dirty="0" err="1"/>
              <a:t>database</a:t>
            </a:r>
            <a:endParaRPr lang="fr-FR" dirty="0"/>
          </a:p>
          <a:p>
            <a:r>
              <a:rPr lang="fr-FR" dirty="0" err="1"/>
              <a:t>Manually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change for </a:t>
            </a:r>
            <a:r>
              <a:rPr lang="fr-FR" dirty="0" err="1"/>
              <a:t>testing</a:t>
            </a:r>
            <a:endParaRPr lang="fr-FR" dirty="0"/>
          </a:p>
          <a:p>
            <a:r>
              <a:rPr lang="fr-FR" dirty="0"/>
              <a:t>Even test the </a:t>
            </a:r>
            <a:r>
              <a:rPr lang="fr-FR" dirty="0" err="1"/>
              <a:t>results</a:t>
            </a:r>
            <a:r>
              <a:rPr lang="fr-FR" dirty="0"/>
              <a:t> of </a:t>
            </a:r>
            <a:r>
              <a:rPr lang="fr-FR" dirty="0" err="1"/>
              <a:t>queries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80D7BF-CB9F-C6E5-D145-9788EE617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17" y="2270863"/>
            <a:ext cx="5830784" cy="33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33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0EDCB-B196-5F02-325C-FAB49F37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MongoDB </a:t>
            </a:r>
            <a:r>
              <a:rPr lang="fr-FR" dirty="0" err="1"/>
              <a:t>Query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80DBAA-B037-D5A5-9936-11E5A989E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613212"/>
            <a:ext cx="9144000" cy="312724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There </a:t>
            </a:r>
            <a:r>
              <a:rPr lang="fr-FR" dirty="0" err="1"/>
              <a:t>is</a:t>
            </a:r>
            <a:r>
              <a:rPr lang="fr-FR" dirty="0"/>
              <a:t> a lot to know about </a:t>
            </a:r>
            <a:r>
              <a:rPr lang="fr-FR" dirty="0" err="1"/>
              <a:t>Queries</a:t>
            </a:r>
            <a:r>
              <a:rPr lang="fr-FR" dirty="0"/>
              <a:t>, how </a:t>
            </a:r>
            <a:r>
              <a:rPr lang="fr-FR" dirty="0" err="1"/>
              <a:t>there</a:t>
            </a:r>
            <a:r>
              <a:rPr lang="fr-FR" dirty="0"/>
              <a:t> are </a:t>
            </a:r>
            <a:r>
              <a:rPr lang="fr-FR" dirty="0" err="1"/>
              <a:t>written</a:t>
            </a:r>
            <a:r>
              <a:rPr lang="fr-FR" dirty="0"/>
              <a:t> and the </a:t>
            </a:r>
            <a:r>
              <a:rPr lang="fr-FR" dirty="0" err="1"/>
              <a:t>operators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applied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  <a:p>
            <a:r>
              <a:rPr lang="fr-FR" dirty="0"/>
              <a:t>For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the </a:t>
            </a:r>
            <a:r>
              <a:rPr lang="fr-FR" dirty="0" err="1"/>
              <a:t>form</a:t>
            </a:r>
            <a:r>
              <a:rPr lang="fr-FR" dirty="0"/>
              <a:t> of </a:t>
            </a:r>
            <a:r>
              <a:rPr lang="fr-FR" dirty="0" err="1"/>
              <a:t>queries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for a </a:t>
            </a:r>
            <a:r>
              <a:rPr lang="fr-FR" dirty="0" err="1"/>
              <a:t>specific</a:t>
            </a:r>
            <a:r>
              <a:rPr lang="fr-FR" dirty="0"/>
              <a:t> case: look </a:t>
            </a:r>
            <a:r>
              <a:rPr lang="fr-FR" dirty="0" err="1"/>
              <a:t>into</a:t>
            </a:r>
            <a:r>
              <a:rPr lang="fr-FR" dirty="0"/>
              <a:t> a </a:t>
            </a:r>
            <a:r>
              <a:rPr lang="fr-FR" dirty="0" err="1"/>
              <a:t>list</a:t>
            </a:r>
            <a:r>
              <a:rPr lang="fr-FR" dirty="0"/>
              <a:t> of tags</a:t>
            </a:r>
          </a:p>
          <a:p>
            <a:r>
              <a:rPr lang="fr-FR" dirty="0"/>
              <a:t>For more information look </a:t>
            </a:r>
            <a:r>
              <a:rPr lang="fr-FR" dirty="0" err="1"/>
              <a:t>into</a:t>
            </a:r>
            <a:r>
              <a:rPr lang="fr-FR" dirty="0"/>
              <a:t> the documentation: </a:t>
            </a:r>
            <a:r>
              <a:rPr lang="fr-FR" dirty="0">
                <a:hlinkClick r:id="rId2"/>
              </a:rPr>
              <a:t>https://www.mongodb.com/docs/manual/tutorial/query-documents/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853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C951C31E-3C1D-7424-1856-60EE6CBC0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697" y="4665073"/>
            <a:ext cx="4293840" cy="39444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49A8486-B876-5122-7CA9-A8CE22B89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826" y="2451047"/>
            <a:ext cx="4305578" cy="48857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8EDB844-041D-418F-C753-B28601D5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126" y="887207"/>
            <a:ext cx="9144000" cy="848778"/>
          </a:xfrm>
        </p:spPr>
        <p:txBody>
          <a:bodyPr/>
          <a:lstStyle/>
          <a:p>
            <a:r>
              <a:rPr lang="en-GB" dirty="0"/>
              <a:t>A simple query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5B7F098-465D-301F-C10C-2FEA09E777BA}"/>
              </a:ext>
            </a:extLst>
          </p:cNvPr>
          <p:cNvCxnSpPr>
            <a:cxnSpLocks/>
          </p:cNvCxnSpPr>
          <p:nvPr/>
        </p:nvCxnSpPr>
        <p:spPr>
          <a:xfrm flipH="1">
            <a:off x="3845230" y="2960708"/>
            <a:ext cx="234336" cy="614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Accolade fermante 7">
            <a:extLst>
              <a:ext uri="{FF2B5EF4-FFF2-40B4-BE49-F238E27FC236}">
                <a16:creationId xmlns:a16="http://schemas.microsoft.com/office/drawing/2014/main" id="{B943C7B7-E46B-9DDB-328D-DF42DD992D0A}"/>
              </a:ext>
            </a:extLst>
          </p:cNvPr>
          <p:cNvSpPr/>
          <p:nvPr/>
        </p:nvSpPr>
        <p:spPr>
          <a:xfrm rot="5400000">
            <a:off x="4009933" y="2563833"/>
            <a:ext cx="143434" cy="66880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Accolade fermante 8">
            <a:extLst>
              <a:ext uri="{FF2B5EF4-FFF2-40B4-BE49-F238E27FC236}">
                <a16:creationId xmlns:a16="http://schemas.microsoft.com/office/drawing/2014/main" id="{0C5065A8-942D-FFA2-384E-4E698C022CC9}"/>
              </a:ext>
            </a:extLst>
          </p:cNvPr>
          <p:cNvSpPr/>
          <p:nvPr/>
        </p:nvSpPr>
        <p:spPr>
          <a:xfrm rot="5400000">
            <a:off x="5928235" y="1588126"/>
            <a:ext cx="159782" cy="258538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2A5B14D-82B1-FEC1-578D-6427AD432881}"/>
              </a:ext>
            </a:extLst>
          </p:cNvPr>
          <p:cNvCxnSpPr>
            <a:cxnSpLocks/>
          </p:cNvCxnSpPr>
          <p:nvPr/>
        </p:nvCxnSpPr>
        <p:spPr>
          <a:xfrm>
            <a:off x="6008126" y="2938403"/>
            <a:ext cx="373650" cy="539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89DF9478-3A0D-FCF9-3D34-AC7DC1747866}"/>
              </a:ext>
            </a:extLst>
          </p:cNvPr>
          <p:cNvSpPr txBox="1"/>
          <p:nvPr/>
        </p:nvSpPr>
        <p:spPr>
          <a:xfrm>
            <a:off x="3086324" y="3525607"/>
            <a:ext cx="143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Fieldname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4A7BE30-2B25-E0C1-E79A-C1B481CA48D5}"/>
              </a:ext>
            </a:extLst>
          </p:cNvPr>
          <p:cNvSpPr txBox="1"/>
          <p:nvPr/>
        </p:nvSpPr>
        <p:spPr>
          <a:xfrm>
            <a:off x="5942389" y="3514612"/>
            <a:ext cx="143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Value</a:t>
            </a:r>
          </a:p>
        </p:txBody>
      </p:sp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3805F299-3B7C-B7BF-E2C9-B08F4A54F15E}"/>
              </a:ext>
            </a:extLst>
          </p:cNvPr>
          <p:cNvSpPr/>
          <p:nvPr/>
        </p:nvSpPr>
        <p:spPr>
          <a:xfrm rot="5400000">
            <a:off x="4083682" y="4677337"/>
            <a:ext cx="93919" cy="57082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2C84FE2-E7DB-AB17-C531-2C01CE8352D9}"/>
              </a:ext>
            </a:extLst>
          </p:cNvPr>
          <p:cNvSpPr txBox="1"/>
          <p:nvPr/>
        </p:nvSpPr>
        <p:spPr>
          <a:xfrm>
            <a:off x="1568824" y="1559859"/>
            <a:ext cx="7745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Objective : Apply a filter on one field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5EC156D-D5C8-589F-DC3B-37A00CCBED4C}"/>
              </a:ext>
            </a:extLst>
          </p:cNvPr>
          <p:cNvCxnSpPr>
            <a:cxnSpLocks/>
          </p:cNvCxnSpPr>
          <p:nvPr/>
        </p:nvCxnSpPr>
        <p:spPr>
          <a:xfrm flipH="1">
            <a:off x="3885748" y="4956271"/>
            <a:ext cx="234336" cy="614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2747FD92-DA04-7BE9-D689-AF7822326D0E}"/>
              </a:ext>
            </a:extLst>
          </p:cNvPr>
          <p:cNvSpPr txBox="1"/>
          <p:nvPr/>
        </p:nvSpPr>
        <p:spPr>
          <a:xfrm>
            <a:off x="2992272" y="5521170"/>
            <a:ext cx="143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Fieldname</a:t>
            </a:r>
          </a:p>
        </p:txBody>
      </p:sp>
      <p:sp>
        <p:nvSpPr>
          <p:cNvPr id="23" name="Accolade fermante 22">
            <a:extLst>
              <a:ext uri="{FF2B5EF4-FFF2-40B4-BE49-F238E27FC236}">
                <a16:creationId xmlns:a16="http://schemas.microsoft.com/office/drawing/2014/main" id="{FB62216D-76B1-240A-B565-319E81C8F8E5}"/>
              </a:ext>
            </a:extLst>
          </p:cNvPr>
          <p:cNvSpPr/>
          <p:nvPr/>
        </p:nvSpPr>
        <p:spPr>
          <a:xfrm rot="5400000">
            <a:off x="5050213" y="4744565"/>
            <a:ext cx="121527" cy="46397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A967778-20E7-EB9D-F972-328DA68E03F8}"/>
              </a:ext>
            </a:extLst>
          </p:cNvPr>
          <p:cNvCxnSpPr>
            <a:cxnSpLocks/>
          </p:cNvCxnSpPr>
          <p:nvPr/>
        </p:nvCxnSpPr>
        <p:spPr>
          <a:xfrm>
            <a:off x="5110976" y="5009709"/>
            <a:ext cx="189226" cy="560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A2D8CF19-06D2-C796-8D6F-94DB8A7048F5}"/>
              </a:ext>
            </a:extLst>
          </p:cNvPr>
          <p:cNvSpPr txBox="1"/>
          <p:nvPr/>
        </p:nvSpPr>
        <p:spPr>
          <a:xfrm>
            <a:off x="4485338" y="5521170"/>
            <a:ext cx="143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Operator</a:t>
            </a:r>
          </a:p>
        </p:txBody>
      </p:sp>
      <p:sp>
        <p:nvSpPr>
          <p:cNvPr id="27" name="Accolade fermante 26">
            <a:extLst>
              <a:ext uri="{FF2B5EF4-FFF2-40B4-BE49-F238E27FC236}">
                <a16:creationId xmlns:a16="http://schemas.microsoft.com/office/drawing/2014/main" id="{DCCCF4D9-C2D8-6B2B-73B1-166B7AB0EDF8}"/>
              </a:ext>
            </a:extLst>
          </p:cNvPr>
          <p:cNvSpPr/>
          <p:nvPr/>
        </p:nvSpPr>
        <p:spPr>
          <a:xfrm rot="5400000">
            <a:off x="6473959" y="4032719"/>
            <a:ext cx="121527" cy="191954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D1558F19-D9EC-0F1E-D799-E993E44A2C35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6544020" y="5037316"/>
            <a:ext cx="347780" cy="484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5B74A5F7-ED13-4E87-E5A1-DF623D320900}"/>
              </a:ext>
            </a:extLst>
          </p:cNvPr>
          <p:cNvSpPr txBox="1"/>
          <p:nvPr/>
        </p:nvSpPr>
        <p:spPr>
          <a:xfrm>
            <a:off x="6358426" y="5522016"/>
            <a:ext cx="106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751282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B75ED-5265-960E-AE36-912FC80C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151" y="1222069"/>
            <a:ext cx="9144000" cy="678449"/>
          </a:xfrm>
        </p:spPr>
        <p:txBody>
          <a:bodyPr>
            <a:normAutofit fontScale="90000"/>
          </a:bodyPr>
          <a:lstStyle/>
          <a:p>
            <a:r>
              <a:rPr lang="fr-FR" dirty="0"/>
              <a:t>The </a:t>
            </a:r>
            <a:r>
              <a:rPr lang="fr-FR" dirty="0" err="1"/>
              <a:t>difficulty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writing</a:t>
            </a:r>
            <a:r>
              <a:rPr lang="fr-FR" dirty="0"/>
              <a:t> </a:t>
            </a:r>
            <a:r>
              <a:rPr lang="fr-FR" dirty="0" err="1"/>
              <a:t>queries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0EBA34-E84C-9AD4-6933-2F5ABC253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442883"/>
            <a:ext cx="9144000" cy="3127248"/>
          </a:xfrm>
        </p:spPr>
        <p:txBody>
          <a:bodyPr/>
          <a:lstStyle/>
          <a:p>
            <a:r>
              <a:rPr lang="fr-FR" dirty="0"/>
              <a:t>To automate the </a:t>
            </a:r>
            <a:r>
              <a:rPr lang="fr-FR" dirty="0" err="1"/>
              <a:t>writing</a:t>
            </a:r>
            <a:r>
              <a:rPr lang="fr-FR" dirty="0"/>
              <a:t> of </a:t>
            </a:r>
            <a:r>
              <a:rPr lang="fr-FR" dirty="0" err="1"/>
              <a:t>queries</a:t>
            </a:r>
            <a:r>
              <a:rPr lang="fr-FR" dirty="0"/>
              <a:t> in </a:t>
            </a:r>
            <a:r>
              <a:rPr lang="fr-FR" dirty="0" err="1"/>
              <a:t>matlab</a:t>
            </a:r>
            <a:r>
              <a:rPr lang="fr-FR" dirty="0"/>
              <a:t> one simple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write</a:t>
            </a:r>
            <a:r>
              <a:rPr lang="fr-FR" dirty="0"/>
              <a:t> a structure and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convert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in a </a:t>
            </a:r>
            <a:r>
              <a:rPr lang="fr-FR" dirty="0" err="1"/>
              <a:t>json</a:t>
            </a:r>
            <a:r>
              <a:rPr lang="fr-FR" dirty="0"/>
              <a:t> format</a:t>
            </a:r>
          </a:p>
          <a:p>
            <a:r>
              <a:rPr lang="fr-FR" dirty="0"/>
              <a:t>But the essential </a:t>
            </a:r>
            <a:r>
              <a:rPr lang="fr-FR" dirty="0" err="1"/>
              <a:t>character</a:t>
            </a:r>
            <a:r>
              <a:rPr lang="fr-FR" dirty="0"/>
              <a:t> ($) for the </a:t>
            </a:r>
            <a:r>
              <a:rPr lang="fr-FR" dirty="0" err="1"/>
              <a:t>properties</a:t>
            </a:r>
            <a:r>
              <a:rPr lang="fr-FR" dirty="0"/>
              <a:t> are not </a:t>
            </a:r>
            <a:r>
              <a:rPr lang="fr-FR" dirty="0" err="1"/>
              <a:t>allowed</a:t>
            </a:r>
            <a:r>
              <a:rPr lang="fr-FR" dirty="0"/>
              <a:t> as a </a:t>
            </a:r>
            <a:r>
              <a:rPr lang="fr-FR" dirty="0" err="1"/>
              <a:t>fieldname</a:t>
            </a:r>
            <a:r>
              <a:rPr lang="fr-FR" dirty="0"/>
              <a:t> for a structure</a:t>
            </a:r>
          </a:p>
          <a:p>
            <a:r>
              <a:rPr lang="fr-FR" dirty="0"/>
              <a:t>So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written</a:t>
            </a:r>
            <a:r>
              <a:rPr lang="fr-FR" dirty="0"/>
              <a:t> (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QueryManager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77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CA36A6-E04D-58F2-5C40-F9C4D0E6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update the value of a </a:t>
            </a:r>
            <a:r>
              <a:rPr lang="fr-FR" dirty="0" err="1"/>
              <a:t>field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BD771F-9FE2-73C0-9BFB-FE3573453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{ $set: { &lt;field1&gt;: &lt;value1&gt;, ... } }</a:t>
            </a:r>
          </a:p>
          <a:p>
            <a:r>
              <a:rPr lang="fr-FR" dirty="0"/>
              <a:t>The first and </a:t>
            </a:r>
            <a:r>
              <a:rPr lang="fr-FR" dirty="0" err="1"/>
              <a:t>simplest</a:t>
            </a:r>
            <a:r>
              <a:rPr lang="fr-FR" dirty="0"/>
              <a:t> </a:t>
            </a:r>
            <a:r>
              <a:rPr lang="fr-FR" dirty="0" err="1"/>
              <a:t>ways</a:t>
            </a:r>
            <a:r>
              <a:rPr lang="fr-FR" dirty="0"/>
              <a:t> to update the value of a </a:t>
            </a:r>
            <a:r>
              <a:rPr lang="fr-FR" dirty="0" err="1"/>
              <a:t>field</a:t>
            </a:r>
            <a:r>
              <a:rPr lang="fr-FR" dirty="0"/>
              <a:t> in a document in the DB</a:t>
            </a:r>
          </a:p>
          <a:p>
            <a:r>
              <a:rPr lang="fr-FR" dirty="0" err="1"/>
              <a:t>Also</a:t>
            </a:r>
            <a:r>
              <a:rPr lang="fr-FR" dirty="0"/>
              <a:t> have the </a:t>
            </a:r>
            <a:r>
              <a:rPr lang="fr-FR" dirty="0" err="1"/>
              <a:t>property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the </a:t>
            </a:r>
            <a:r>
              <a:rPr lang="fr-FR" dirty="0" err="1"/>
              <a:t>field</a:t>
            </a:r>
            <a:r>
              <a:rPr lang="fr-FR" dirty="0"/>
              <a:t> to the document if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doesn’t</a:t>
            </a:r>
            <a:r>
              <a:rPr lang="fr-FR" dirty="0"/>
              <a:t> </a:t>
            </a:r>
            <a:r>
              <a:rPr lang="fr-FR" dirty="0" err="1"/>
              <a:t>exist</a:t>
            </a:r>
            <a:r>
              <a:rPr lang="fr-FR" dirty="0"/>
              <a:t> </a:t>
            </a:r>
            <a:r>
              <a:rPr lang="fr-FR" dirty="0" err="1"/>
              <a:t>already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1532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97441B46-92E6-3FD9-4853-1A10521F5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68281"/>
            <a:ext cx="9144000" cy="1344168"/>
          </a:xfrm>
        </p:spPr>
        <p:txBody>
          <a:bodyPr/>
          <a:lstStyle/>
          <a:p>
            <a:r>
              <a:rPr lang="fr-FR" dirty="0"/>
              <a:t>Case 1: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see</a:t>
            </a:r>
            <a:r>
              <a:rPr lang="fr-FR" dirty="0"/>
              <a:t> if the tags </a:t>
            </a:r>
            <a:r>
              <a:rPr lang="fr-FR" dirty="0" err="1"/>
              <a:t>array</a:t>
            </a:r>
            <a:r>
              <a:rPr lang="fr-FR" dirty="0"/>
              <a:t> </a:t>
            </a:r>
            <a:r>
              <a:rPr lang="fr-FR" dirty="0" err="1"/>
              <a:t>contains</a:t>
            </a:r>
            <a:r>
              <a:rPr lang="fr-FR" dirty="0"/>
              <a:t> ONE </a:t>
            </a:r>
            <a:r>
              <a:rPr lang="fr-FR" dirty="0" err="1"/>
              <a:t>specific</a:t>
            </a:r>
            <a:r>
              <a:rPr lang="fr-FR" dirty="0"/>
              <a:t> value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C0356C6-F5E6-23E3-B70B-D6AAF1C3B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781928"/>
            <a:ext cx="4398802" cy="3127248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Easiest</a:t>
            </a:r>
            <a:r>
              <a:rPr lang="fr-FR" dirty="0"/>
              <a:t> case, </a:t>
            </a:r>
            <a:r>
              <a:rPr lang="fr-FR" dirty="0" err="1"/>
              <a:t>just</a:t>
            </a:r>
            <a:r>
              <a:rPr lang="fr-FR" dirty="0"/>
              <a:t> a </a:t>
            </a:r>
            <a:r>
              <a:rPr lang="fr-FR" dirty="0" err="1"/>
              <a:t>struct</a:t>
            </a:r>
            <a:r>
              <a:rPr lang="fr-FR" dirty="0"/>
              <a:t> / </a:t>
            </a:r>
            <a:r>
              <a:rPr lang="fr-FR" dirty="0" err="1"/>
              <a:t>queries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field</a:t>
            </a:r>
            <a:r>
              <a:rPr lang="fr-FR" dirty="0"/>
              <a:t> and the </a:t>
            </a:r>
            <a:r>
              <a:rPr lang="fr-FR" dirty="0" err="1"/>
              <a:t>specific</a:t>
            </a:r>
            <a:r>
              <a:rPr lang="fr-FR" dirty="0"/>
              <a:t> value</a:t>
            </a:r>
          </a:p>
          <a:p>
            <a:r>
              <a:rPr lang="fr-FR" dirty="0"/>
              <a:t>In </a:t>
            </a:r>
            <a:r>
              <a:rPr lang="fr-FR" dirty="0" err="1"/>
              <a:t>this</a:t>
            </a:r>
            <a:r>
              <a:rPr lang="fr-FR" dirty="0"/>
              <a:t> case, the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dtas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are the one </a:t>
            </a:r>
            <a:r>
              <a:rPr lang="fr-FR" dirty="0" err="1"/>
              <a:t>where</a:t>
            </a:r>
            <a:r>
              <a:rPr lang="fr-FR" dirty="0"/>
              <a:t> the tags </a:t>
            </a:r>
            <a:r>
              <a:rPr lang="fr-FR" dirty="0" err="1"/>
              <a:t>list</a:t>
            </a:r>
            <a:r>
              <a:rPr lang="fr-FR" dirty="0"/>
              <a:t> </a:t>
            </a:r>
            <a:r>
              <a:rPr lang="fr-FR" dirty="0" err="1"/>
              <a:t>contain</a:t>
            </a:r>
            <a:r>
              <a:rPr lang="fr-FR" dirty="0"/>
              <a:t> the value « </a:t>
            </a:r>
            <a:r>
              <a:rPr lang="fr-FR" dirty="0" err="1"/>
              <a:t>Mechanical</a:t>
            </a:r>
            <a:r>
              <a:rPr lang="fr-FR" dirty="0"/>
              <a:t> component »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6D9876-009A-8785-C216-C0B39A8FF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96" y="4001123"/>
            <a:ext cx="5080331" cy="68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48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0528CB6A-5CF0-D020-128B-A53F79F6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890373"/>
            <a:ext cx="9144000" cy="1763179"/>
          </a:xfrm>
        </p:spPr>
        <p:txBody>
          <a:bodyPr>
            <a:normAutofit fontScale="90000"/>
          </a:bodyPr>
          <a:lstStyle/>
          <a:p>
            <a:r>
              <a:rPr lang="fr-FR" dirty="0"/>
              <a:t>Case 2: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load</a:t>
            </a:r>
            <a:r>
              <a:rPr lang="fr-FR" dirty="0"/>
              <a:t> data </a:t>
            </a:r>
            <a:r>
              <a:rPr lang="fr-FR" dirty="0" err="1"/>
              <a:t>where</a:t>
            </a:r>
            <a:r>
              <a:rPr lang="fr-FR" dirty="0"/>
              <a:t> the tags </a:t>
            </a:r>
            <a:r>
              <a:rPr lang="fr-FR" dirty="0" err="1"/>
              <a:t>array</a:t>
            </a:r>
            <a:r>
              <a:rPr lang="fr-FR" dirty="0"/>
              <a:t> </a:t>
            </a:r>
            <a:r>
              <a:rPr lang="fr-FR" dirty="0" err="1"/>
              <a:t>contain</a:t>
            </a:r>
            <a:r>
              <a:rPr lang="fr-FR" dirty="0"/>
              <a:t> multiple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elements</a:t>
            </a:r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8879B2F-42A8-1A85-31BC-ADCA7D42B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234" y="2980048"/>
            <a:ext cx="5600072" cy="897903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If the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written</a:t>
            </a:r>
            <a:r>
              <a:rPr lang="fr-FR" dirty="0"/>
              <a:t> like </a:t>
            </a:r>
            <a:r>
              <a:rPr lang="fr-FR" dirty="0" err="1"/>
              <a:t>this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the data </a:t>
            </a:r>
            <a:r>
              <a:rPr lang="fr-FR" dirty="0" err="1"/>
              <a:t>where</a:t>
            </a:r>
            <a:r>
              <a:rPr lang="fr-FR" dirty="0"/>
              <a:t> the values « </a:t>
            </a:r>
            <a:r>
              <a:rPr lang="fr-FR" dirty="0" err="1"/>
              <a:t>red</a:t>
            </a:r>
            <a:r>
              <a:rPr lang="fr-FR" dirty="0"/>
              <a:t> » and « </a:t>
            </a:r>
            <a:r>
              <a:rPr lang="fr-FR" dirty="0" err="1"/>
              <a:t>blank</a:t>
            </a:r>
            <a:r>
              <a:rPr lang="fr-FR" dirty="0"/>
              <a:t> » are in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in the tags </a:t>
            </a:r>
            <a:r>
              <a:rPr lang="fr-FR" dirty="0" err="1"/>
              <a:t>array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0D70328-6513-BA54-3C5F-E7A29483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626" y="3276599"/>
            <a:ext cx="4305578" cy="488576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9A94585-01E0-B759-2E0B-0962EE699C66}"/>
              </a:ext>
            </a:extLst>
          </p:cNvPr>
          <p:cNvSpPr txBox="1">
            <a:spLocks/>
          </p:cNvSpPr>
          <p:nvPr/>
        </p:nvSpPr>
        <p:spPr>
          <a:xfrm>
            <a:off x="1109554" y="4597461"/>
            <a:ext cx="5600072" cy="89790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 </a:t>
            </a:r>
            <a:r>
              <a:rPr lang="fr-FR" dirty="0" err="1"/>
              <a:t>this</a:t>
            </a:r>
            <a:r>
              <a:rPr lang="fr-FR" dirty="0"/>
              <a:t> case,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the datas </a:t>
            </a:r>
            <a:r>
              <a:rPr lang="fr-FR" dirty="0" err="1"/>
              <a:t>where</a:t>
            </a:r>
            <a:r>
              <a:rPr lang="fr-FR" dirty="0"/>
              <a:t> the </a:t>
            </a:r>
            <a:r>
              <a:rPr lang="fr-FR" dirty="0" err="1"/>
              <a:t>two</a:t>
            </a:r>
            <a:r>
              <a:rPr lang="fr-FR" dirty="0"/>
              <a:t> values are in </a:t>
            </a:r>
            <a:r>
              <a:rPr lang="fr-FR" dirty="0" err="1"/>
              <a:t>their</a:t>
            </a:r>
            <a:r>
              <a:rPr lang="fr-FR" dirty="0"/>
              <a:t> tags </a:t>
            </a:r>
            <a:r>
              <a:rPr lang="fr-FR" dirty="0" err="1"/>
              <a:t>array</a:t>
            </a:r>
            <a:r>
              <a:rPr lang="fr-FR" dirty="0"/>
              <a:t> but the </a:t>
            </a:r>
            <a:r>
              <a:rPr lang="fr-FR" dirty="0" err="1"/>
              <a:t>order</a:t>
            </a:r>
            <a:r>
              <a:rPr lang="fr-FR" dirty="0"/>
              <a:t> or position of the values in the </a:t>
            </a:r>
            <a:r>
              <a:rPr lang="fr-FR" dirty="0" err="1"/>
              <a:t>array</a:t>
            </a:r>
            <a:r>
              <a:rPr lang="fr-FR" dirty="0"/>
              <a:t> </a:t>
            </a:r>
            <a:r>
              <a:rPr lang="fr-FR" dirty="0" err="1"/>
              <a:t>doesn’t</a:t>
            </a:r>
            <a:r>
              <a:rPr lang="fr-FR" dirty="0"/>
              <a:t> </a:t>
            </a:r>
            <a:r>
              <a:rPr lang="fr-FR" dirty="0" err="1"/>
              <a:t>matter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0F4EDF0-7A72-0CA5-93D0-4856BB013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626" y="4876799"/>
            <a:ext cx="4293840" cy="39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84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D40B32C-1E6B-F1F4-0531-6E6DDFF21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328" y="1104783"/>
            <a:ext cx="9144000" cy="732237"/>
          </a:xfrm>
        </p:spPr>
        <p:txBody>
          <a:bodyPr/>
          <a:lstStyle/>
          <a:p>
            <a:r>
              <a:rPr lang="fr-FR" dirty="0"/>
              <a:t>Case 2: 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616C691-3249-5C4A-FD45-B1E4C80FD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458" y="2060638"/>
            <a:ext cx="5734543" cy="1833282"/>
          </a:xfrm>
        </p:spPr>
        <p:txBody>
          <a:bodyPr/>
          <a:lstStyle/>
          <a:p>
            <a:r>
              <a:rPr lang="fr-FR" dirty="0"/>
              <a:t>In </a:t>
            </a:r>
            <a:r>
              <a:rPr lang="fr-FR" dirty="0" err="1"/>
              <a:t>this</a:t>
            </a:r>
            <a:r>
              <a:rPr lang="fr-FR" dirty="0"/>
              <a:t> case, </a:t>
            </a:r>
            <a:r>
              <a:rPr lang="fr-FR" dirty="0" err="1"/>
              <a:t>every</a:t>
            </a:r>
            <a:r>
              <a:rPr lang="fr-FR" dirty="0"/>
              <a:t> document / data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contain</a:t>
            </a:r>
            <a:r>
              <a:rPr lang="fr-FR" dirty="0"/>
              <a:t> at least one of the </a:t>
            </a:r>
            <a:r>
              <a:rPr lang="fr-FR" dirty="0" err="1"/>
              <a:t>cited</a:t>
            </a:r>
            <a:r>
              <a:rPr lang="fr-FR" dirty="0"/>
              <a:t> </a:t>
            </a:r>
            <a:r>
              <a:rPr lang="fr-FR" dirty="0" err="1"/>
              <a:t>element</a:t>
            </a:r>
            <a:r>
              <a:rPr lang="fr-FR" dirty="0"/>
              <a:t> (« home », « </a:t>
            </a:r>
            <a:r>
              <a:rPr lang="fr-FR" dirty="0" err="1"/>
              <a:t>school</a:t>
            </a:r>
            <a:r>
              <a:rPr lang="fr-FR" dirty="0"/>
              <a:t> »)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loaded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FAA279-6545-3315-ED06-469A4D4B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835" y="2846295"/>
            <a:ext cx="4144702" cy="261967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32FB119-1A04-99D6-3769-557884452C57}"/>
              </a:ext>
            </a:extLst>
          </p:cNvPr>
          <p:cNvSpPr txBox="1">
            <a:spLocks/>
          </p:cNvSpPr>
          <p:nvPr/>
        </p:nvSpPr>
        <p:spPr>
          <a:xfrm>
            <a:off x="1266892" y="4117538"/>
            <a:ext cx="5734543" cy="183328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hlinkClick r:id="rId3"/>
              </a:rPr>
              <a:t>More documentation: </a:t>
            </a:r>
          </a:p>
          <a:p>
            <a:r>
              <a:rPr lang="fr-FR" dirty="0">
                <a:hlinkClick r:id="rId3"/>
              </a:rPr>
              <a:t>https://www.mongodb.com/docs/v3.4/tutorial/query-arrays/</a:t>
            </a:r>
            <a:endParaRPr lang="fr-FR" dirty="0"/>
          </a:p>
          <a:p>
            <a:r>
              <a:rPr lang="fr-FR" dirty="0">
                <a:hlinkClick r:id="rId4"/>
              </a:rPr>
              <a:t>https://www.mongodb.com/docs/manual/reference/operator/query/in/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5484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5E2A0-12D8-DE23-479C-D826FBB9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3417"/>
            <a:ext cx="9144000" cy="782235"/>
          </a:xfrm>
        </p:spPr>
        <p:txBody>
          <a:bodyPr/>
          <a:lstStyle/>
          <a:p>
            <a:r>
              <a:rPr lang="fr-FR" dirty="0"/>
              <a:t>Code Structure (1)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D834CB4-AB89-8504-8478-C2242CC9757D}"/>
              </a:ext>
            </a:extLst>
          </p:cNvPr>
          <p:cNvSpPr txBox="1"/>
          <p:nvPr/>
        </p:nvSpPr>
        <p:spPr>
          <a:xfrm>
            <a:off x="950259" y="1739148"/>
            <a:ext cx="265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Python code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77AB2B-F909-2FC0-AABF-1E92A67532AB}"/>
              </a:ext>
            </a:extLst>
          </p:cNvPr>
          <p:cNvSpPr txBox="1"/>
          <p:nvPr/>
        </p:nvSpPr>
        <p:spPr>
          <a:xfrm>
            <a:off x="2752165" y="2151814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MongoDBManagement.py</a:t>
            </a:r>
          </a:p>
        </p:txBody>
      </p: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078E0938-B58A-ACE8-DD15-B8B377E6743C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2400600" y="1984915"/>
            <a:ext cx="228000" cy="4751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2F96E346-04CD-6A67-3C03-DC0EA44B6834}"/>
              </a:ext>
            </a:extLst>
          </p:cNvPr>
          <p:cNvSpPr txBox="1"/>
          <p:nvPr/>
        </p:nvSpPr>
        <p:spPr>
          <a:xfrm>
            <a:off x="7114091" y="1939353"/>
            <a:ext cx="3737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Class </a:t>
            </a:r>
            <a:r>
              <a:rPr lang="fr-FR" sz="1200" dirty="0" err="1"/>
              <a:t>MongoDBManagement</a:t>
            </a:r>
            <a:r>
              <a:rPr lang="fr-FR" sz="1200" dirty="0"/>
              <a:t> </a:t>
            </a:r>
            <a:r>
              <a:rPr lang="fr-FR" sz="1200" dirty="0" err="1"/>
              <a:t>with</a:t>
            </a:r>
            <a:r>
              <a:rPr lang="fr-FR" sz="1200" dirty="0"/>
              <a:t> </a:t>
            </a:r>
            <a:r>
              <a:rPr lang="fr-FR" sz="1200" dirty="0" err="1"/>
              <a:t>functions</a:t>
            </a:r>
            <a:r>
              <a:rPr lang="fr-FR" sz="1200" dirty="0"/>
              <a:t> to  deal </a:t>
            </a:r>
            <a:r>
              <a:rPr lang="fr-FR" sz="1200" dirty="0" err="1"/>
              <a:t>with</a:t>
            </a:r>
            <a:r>
              <a:rPr lang="fr-FR" sz="1200" dirty="0"/>
              <a:t> the </a:t>
            </a:r>
            <a:r>
              <a:rPr lang="fr-FR" sz="1200" dirty="0" err="1"/>
              <a:t>upload</a:t>
            </a:r>
            <a:r>
              <a:rPr lang="fr-FR" sz="1200" dirty="0"/>
              <a:t> and </a:t>
            </a:r>
            <a:r>
              <a:rPr lang="fr-FR" sz="1200" dirty="0" err="1"/>
              <a:t>loading</a:t>
            </a:r>
            <a:r>
              <a:rPr lang="fr-FR" sz="1200" dirty="0"/>
              <a:t> of the datas in the </a:t>
            </a:r>
            <a:r>
              <a:rPr lang="fr-FR" sz="1200" dirty="0" err="1"/>
              <a:t>database</a:t>
            </a:r>
            <a:endParaRPr lang="fr-FR" sz="1200" dirty="0"/>
          </a:p>
          <a:p>
            <a:r>
              <a:rPr lang="fr-FR" sz="1200" dirty="0"/>
              <a:t>Need to </a:t>
            </a:r>
            <a:r>
              <a:rPr lang="fr-FR" sz="1200" dirty="0" err="1"/>
              <a:t>install</a:t>
            </a:r>
            <a:r>
              <a:rPr lang="fr-FR" sz="1200" dirty="0"/>
              <a:t> </a:t>
            </a:r>
            <a:r>
              <a:rPr lang="fr-FR" sz="1200" dirty="0" err="1"/>
              <a:t>pysftp</a:t>
            </a:r>
            <a:r>
              <a:rPr lang="fr-FR" sz="1200" dirty="0"/>
              <a:t> on </a:t>
            </a:r>
            <a:r>
              <a:rPr lang="fr-FR" sz="1200" dirty="0" err="1"/>
              <a:t>your</a:t>
            </a:r>
            <a:r>
              <a:rPr lang="fr-FR" sz="1200" dirty="0"/>
              <a:t> computer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B533B1D-7359-71A9-BAE8-25101DD6E958}"/>
              </a:ext>
            </a:extLst>
          </p:cNvPr>
          <p:cNvSpPr txBox="1"/>
          <p:nvPr/>
        </p:nvSpPr>
        <p:spPr>
          <a:xfrm>
            <a:off x="1425388" y="2564480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Properties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D0960F-E8E5-20FD-867D-9EBAA7CBEEE5}"/>
              </a:ext>
            </a:extLst>
          </p:cNvPr>
          <p:cNvSpPr txBox="1"/>
          <p:nvPr/>
        </p:nvSpPr>
        <p:spPr>
          <a:xfrm>
            <a:off x="1936377" y="3010228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mongo_db</a:t>
            </a:r>
            <a:endParaRPr lang="en-US" sz="12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03DAD56-88F5-1ABD-674B-2C66282467CD}"/>
              </a:ext>
            </a:extLst>
          </p:cNvPr>
          <p:cNvSpPr txBox="1"/>
          <p:nvPr/>
        </p:nvSpPr>
        <p:spPr>
          <a:xfrm>
            <a:off x="1936377" y="3223325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The </a:t>
            </a:r>
            <a:r>
              <a:rPr lang="fr-FR" sz="1200" i="1" dirty="0" err="1"/>
              <a:t>connection</a:t>
            </a:r>
            <a:r>
              <a:rPr lang="fr-FR" sz="1200" i="1" dirty="0"/>
              <a:t> to the </a:t>
            </a:r>
            <a:r>
              <a:rPr lang="fr-FR" sz="1200" i="1" dirty="0" err="1"/>
              <a:t>database</a:t>
            </a:r>
            <a:r>
              <a:rPr lang="fr-FR" sz="1200" i="1" dirty="0"/>
              <a:t> </a:t>
            </a:r>
            <a:r>
              <a:rPr lang="fr-FR" sz="1200" i="1" dirty="0" err="1"/>
              <a:t>initiate</a:t>
            </a:r>
            <a:r>
              <a:rPr lang="fr-FR" sz="1200" i="1" dirty="0"/>
              <a:t> by the </a:t>
            </a:r>
            <a:r>
              <a:rPr lang="fr-FR" sz="1200" i="1" dirty="0" err="1"/>
              <a:t>mongo_conn</a:t>
            </a:r>
            <a:r>
              <a:rPr lang="fr-FR" sz="1200" i="1" dirty="0"/>
              <a:t> </a:t>
            </a:r>
            <a:r>
              <a:rPr lang="fr-FR" sz="1200" i="1" dirty="0" err="1"/>
              <a:t>method</a:t>
            </a:r>
            <a:endParaRPr lang="fr-FR" sz="1200" i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9632888-C4A7-55D7-2F25-FBF356C69B59}"/>
              </a:ext>
            </a:extLst>
          </p:cNvPr>
          <p:cNvSpPr txBox="1"/>
          <p:nvPr/>
        </p:nvSpPr>
        <p:spPr>
          <a:xfrm>
            <a:off x="1425388" y="3711144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1D8FF72-059B-4927-7D31-DB2AAE9C834A}"/>
              </a:ext>
            </a:extLst>
          </p:cNvPr>
          <p:cNvSpPr txBox="1"/>
          <p:nvPr/>
        </p:nvSpPr>
        <p:spPr>
          <a:xfrm>
            <a:off x="1936376" y="4156892"/>
            <a:ext cx="5277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__init__(self, mongo_hostname, mongo_port, mongo_dbname)</a:t>
            </a:r>
            <a:endParaRPr lang="en-US" sz="12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FEABB8B-093C-612E-0EFD-6595D61AD518}"/>
              </a:ext>
            </a:extLst>
          </p:cNvPr>
          <p:cNvSpPr txBox="1"/>
          <p:nvPr/>
        </p:nvSpPr>
        <p:spPr>
          <a:xfrm>
            <a:off x="1936377" y="4778270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def </a:t>
            </a:r>
            <a:r>
              <a:rPr lang="en-US" sz="1200" dirty="0" err="1"/>
              <a:t>mongo_conn</a:t>
            </a:r>
            <a:r>
              <a:rPr lang="en-US" sz="1200" dirty="0"/>
              <a:t>(self, </a:t>
            </a:r>
            <a:r>
              <a:rPr lang="en-US" sz="1200" dirty="0" err="1"/>
              <a:t>hstname</a:t>
            </a:r>
            <a:r>
              <a:rPr lang="en-US" sz="1200" dirty="0"/>
              <a:t>, </a:t>
            </a:r>
            <a:r>
              <a:rPr lang="en-US" sz="1200" dirty="0" err="1"/>
              <a:t>prt</a:t>
            </a:r>
            <a:r>
              <a:rPr lang="en-US" sz="1200" dirty="0"/>
              <a:t>, </a:t>
            </a:r>
            <a:r>
              <a:rPr lang="en-US" sz="1200" dirty="0" err="1"/>
              <a:t>db</a:t>
            </a:r>
            <a:r>
              <a:rPr lang="en-US" sz="1200" dirty="0"/>
              <a:t>):</a:t>
            </a:r>
            <a:endParaRPr lang="fr-FR" sz="12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E245A87-A33A-E3CC-B134-42B4CF81012A}"/>
              </a:ext>
            </a:extLst>
          </p:cNvPr>
          <p:cNvSpPr txBox="1"/>
          <p:nvPr/>
        </p:nvSpPr>
        <p:spPr>
          <a:xfrm>
            <a:off x="1936377" y="5473971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create_document_to_upload</a:t>
            </a:r>
            <a:r>
              <a:rPr lang="en-US" sz="1200" dirty="0"/>
              <a:t>(self, </a:t>
            </a:r>
            <a:r>
              <a:rPr lang="en-US" sz="1200" dirty="0" err="1"/>
              <a:t>original_database</a:t>
            </a:r>
            <a:r>
              <a:rPr lang="en-US" sz="1200" dirty="0"/>
              <a:t>, </a:t>
            </a:r>
            <a:r>
              <a:rPr lang="en-US" sz="1200" dirty="0" err="1"/>
              <a:t>file_directory</a:t>
            </a:r>
            <a:r>
              <a:rPr lang="en-US" sz="1200" dirty="0"/>
              <a:t>, filename, tags):</a:t>
            </a:r>
            <a:endParaRPr lang="fr-FR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638A1B7-1DA7-C8F8-E363-DF6BA230C34A}"/>
              </a:ext>
            </a:extLst>
          </p:cNvPr>
          <p:cNvSpPr txBox="1"/>
          <p:nvPr/>
        </p:nvSpPr>
        <p:spPr>
          <a:xfrm>
            <a:off x="1936377" y="6166468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create_tags_for_document(self, actual_dir):</a:t>
            </a:r>
            <a:endParaRPr lang="fr-FR" sz="12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569F3F3-F3A2-B279-62AF-5A664A832C7B}"/>
              </a:ext>
            </a:extLst>
          </p:cNvPr>
          <p:cNvSpPr txBox="1"/>
          <p:nvPr/>
        </p:nvSpPr>
        <p:spPr>
          <a:xfrm>
            <a:off x="1936377" y="4369989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Constructor</a:t>
            </a:r>
            <a:endParaRPr lang="fr-FR" sz="1200" i="1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F3F9BDF-DDA2-3D35-C31E-483CBCE9A23F}"/>
              </a:ext>
            </a:extLst>
          </p:cNvPr>
          <p:cNvSpPr txBox="1"/>
          <p:nvPr/>
        </p:nvSpPr>
        <p:spPr>
          <a:xfrm>
            <a:off x="1936377" y="5076025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Instantiate</a:t>
            </a:r>
            <a:r>
              <a:rPr lang="fr-FR" sz="1200" i="1" dirty="0"/>
              <a:t> a </a:t>
            </a:r>
            <a:r>
              <a:rPr lang="fr-FR" sz="1200" i="1" dirty="0" err="1"/>
              <a:t>connection</a:t>
            </a:r>
            <a:r>
              <a:rPr lang="fr-FR" sz="1200" i="1" dirty="0"/>
              <a:t>  to the </a:t>
            </a:r>
            <a:r>
              <a:rPr lang="fr-FR" sz="1200" i="1" dirty="0" err="1"/>
              <a:t>database</a:t>
            </a:r>
            <a:endParaRPr lang="fr-FR" sz="1200" i="1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11EB34E-221E-B5F4-B595-CDDFDF6BBF45}"/>
              </a:ext>
            </a:extLst>
          </p:cNvPr>
          <p:cNvSpPr txBox="1"/>
          <p:nvPr/>
        </p:nvSpPr>
        <p:spPr>
          <a:xfrm>
            <a:off x="1936377" y="5750970"/>
            <a:ext cx="9287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Create and give the model of the document that will represent the CAD files in the database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BC2FD6E-88E3-9449-1D34-D2C48C2F041A}"/>
              </a:ext>
            </a:extLst>
          </p:cNvPr>
          <p:cNvSpPr txBox="1"/>
          <p:nvPr/>
        </p:nvSpPr>
        <p:spPr>
          <a:xfrm>
            <a:off x="1936376" y="6443466"/>
            <a:ext cx="10255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Function</a:t>
            </a:r>
            <a:r>
              <a:rPr lang="fr-FR" sz="1200" i="1" dirty="0"/>
              <a:t> to </a:t>
            </a:r>
            <a:r>
              <a:rPr lang="fr-FR" sz="1200" i="1" dirty="0" err="1"/>
              <a:t>instantiate</a:t>
            </a:r>
            <a:r>
              <a:rPr lang="fr-FR" sz="1200" i="1" dirty="0"/>
              <a:t> the tags and </a:t>
            </a:r>
            <a:r>
              <a:rPr lang="fr-FR" sz="1200" i="1" dirty="0" err="1"/>
              <a:t>source_database</a:t>
            </a:r>
            <a:r>
              <a:rPr lang="fr-FR" sz="1200" i="1" dirty="0"/>
              <a:t> of a </a:t>
            </a:r>
            <a:r>
              <a:rPr lang="fr-FR" sz="1200" i="1" dirty="0" err="1"/>
              <a:t>given</a:t>
            </a:r>
            <a:r>
              <a:rPr lang="fr-FR" sz="1200" i="1" dirty="0"/>
              <a:t> CAD </a:t>
            </a:r>
            <a:r>
              <a:rPr lang="fr-FR" sz="1200" i="1" dirty="0" err="1"/>
              <a:t>that</a:t>
            </a:r>
            <a:r>
              <a:rPr lang="fr-FR" sz="1200" i="1" dirty="0"/>
              <a:t> respect the </a:t>
            </a:r>
            <a:r>
              <a:rPr lang="fr-FR" sz="1200" i="1" dirty="0" err="1"/>
              <a:t>organization</a:t>
            </a:r>
            <a:r>
              <a:rPr lang="fr-FR" sz="1200" i="1" dirty="0"/>
              <a:t> </a:t>
            </a:r>
            <a:r>
              <a:rPr lang="fr-FR" sz="1200" i="1" dirty="0" err="1"/>
              <a:t>given</a:t>
            </a:r>
            <a:r>
              <a:rPr lang="fr-FR" sz="1200" i="1" dirty="0"/>
              <a:t> </a:t>
            </a:r>
            <a:r>
              <a:rPr lang="fr-FR" sz="1200" i="1" dirty="0" err="1"/>
              <a:t>after</a:t>
            </a:r>
            <a:r>
              <a:rPr lang="fr-FR" sz="1200" i="1" dirty="0"/>
              <a:t>, by </a:t>
            </a:r>
            <a:r>
              <a:rPr lang="fr-FR" sz="1200" i="1" dirty="0" err="1"/>
              <a:t>using</a:t>
            </a:r>
            <a:r>
              <a:rPr lang="fr-FR" sz="1200" i="1" dirty="0"/>
              <a:t> the </a:t>
            </a:r>
            <a:r>
              <a:rPr lang="fr-FR" sz="1200" i="1" dirty="0" err="1"/>
              <a:t>path</a:t>
            </a:r>
            <a:r>
              <a:rPr lang="fr-FR" sz="1200" i="1" dirty="0"/>
              <a:t> to </a:t>
            </a:r>
            <a:r>
              <a:rPr lang="fr-FR" sz="1200" i="1" dirty="0" err="1"/>
              <a:t>access</a:t>
            </a:r>
            <a:r>
              <a:rPr lang="fr-FR" sz="1200" i="1" dirty="0"/>
              <a:t> the CAD</a:t>
            </a:r>
          </a:p>
        </p:txBody>
      </p:sp>
    </p:spTree>
    <p:extLst>
      <p:ext uri="{BB962C8B-B14F-4D97-AF65-F5344CB8AC3E}">
        <p14:creationId xmlns:p14="http://schemas.microsoft.com/office/powerpoint/2010/main" val="218365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5E2A0-12D8-DE23-479C-D826FBB9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3417"/>
            <a:ext cx="9144000" cy="782235"/>
          </a:xfrm>
        </p:spPr>
        <p:txBody>
          <a:bodyPr/>
          <a:lstStyle/>
          <a:p>
            <a:r>
              <a:rPr lang="fr-FR" dirty="0"/>
              <a:t>Code Structure (1) 2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D834CB4-AB89-8504-8478-C2242CC9757D}"/>
              </a:ext>
            </a:extLst>
          </p:cNvPr>
          <p:cNvSpPr txBox="1"/>
          <p:nvPr/>
        </p:nvSpPr>
        <p:spPr>
          <a:xfrm>
            <a:off x="950259" y="1739148"/>
            <a:ext cx="265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Python code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77AB2B-F909-2FC0-AABF-1E92A67532AB}"/>
              </a:ext>
            </a:extLst>
          </p:cNvPr>
          <p:cNvSpPr txBox="1"/>
          <p:nvPr/>
        </p:nvSpPr>
        <p:spPr>
          <a:xfrm>
            <a:off x="2752165" y="2151814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MongoDBManagement.py</a:t>
            </a:r>
          </a:p>
        </p:txBody>
      </p: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078E0938-B58A-ACE8-DD15-B8B377E6743C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2400600" y="1984915"/>
            <a:ext cx="228000" cy="4751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19632888-C4A7-55D7-2F25-FBF356C69B59}"/>
              </a:ext>
            </a:extLst>
          </p:cNvPr>
          <p:cNvSpPr txBox="1"/>
          <p:nvPr/>
        </p:nvSpPr>
        <p:spPr>
          <a:xfrm>
            <a:off x="1277610" y="2685909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1D8FF72-059B-4927-7D31-DB2AAE9C834A}"/>
              </a:ext>
            </a:extLst>
          </p:cNvPr>
          <p:cNvSpPr txBox="1"/>
          <p:nvPr/>
        </p:nvSpPr>
        <p:spPr>
          <a:xfrm>
            <a:off x="1788598" y="3131657"/>
            <a:ext cx="5277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create_all_documents_for_local_storage_case</a:t>
            </a:r>
            <a:r>
              <a:rPr lang="en-US" sz="1200" dirty="0"/>
              <a:t>(self)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FEABB8B-093C-612E-0EFD-6595D61AD518}"/>
              </a:ext>
            </a:extLst>
          </p:cNvPr>
          <p:cNvSpPr txBox="1"/>
          <p:nvPr/>
        </p:nvSpPr>
        <p:spPr>
          <a:xfrm>
            <a:off x="1788599" y="3799215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create_all_documents_for_remote_storage_case(self)</a:t>
            </a:r>
            <a:endParaRPr lang="fr-FR" sz="12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E245A87-A33A-E3CC-B134-42B4CF81012A}"/>
              </a:ext>
            </a:extLst>
          </p:cNvPr>
          <p:cNvSpPr txBox="1"/>
          <p:nvPr/>
        </p:nvSpPr>
        <p:spPr>
          <a:xfrm>
            <a:off x="1788599" y="4494916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upload_documents_to_db(self, posts, dir_name)</a:t>
            </a:r>
            <a:endParaRPr lang="fr-FR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638A1B7-1DA7-C8F8-E363-DF6BA230C34A}"/>
              </a:ext>
            </a:extLst>
          </p:cNvPr>
          <p:cNvSpPr txBox="1"/>
          <p:nvPr/>
        </p:nvSpPr>
        <p:spPr>
          <a:xfrm>
            <a:off x="1788598" y="5187413"/>
            <a:ext cx="8547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find_data_in_database(self, query, collection, fields_to_include={}, isremote=False, localpathtodownload="")</a:t>
            </a:r>
            <a:endParaRPr lang="fr-FR" sz="12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569F3F3-F3A2-B279-62AF-5A664A832C7B}"/>
              </a:ext>
            </a:extLst>
          </p:cNvPr>
          <p:cNvSpPr txBox="1"/>
          <p:nvPr/>
        </p:nvSpPr>
        <p:spPr>
          <a:xfrm>
            <a:off x="1788599" y="3344754"/>
            <a:ext cx="953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By </a:t>
            </a:r>
            <a:r>
              <a:rPr lang="fr-FR" sz="1200" i="1" dirty="0" err="1"/>
              <a:t>looking</a:t>
            </a:r>
            <a:r>
              <a:rPr lang="fr-FR" sz="1200" i="1" dirty="0"/>
              <a:t> </a:t>
            </a:r>
            <a:r>
              <a:rPr lang="fr-FR" sz="1200" i="1" dirty="0" err="1"/>
              <a:t>into</a:t>
            </a:r>
            <a:r>
              <a:rPr lang="fr-FR" sz="1200" i="1" dirty="0"/>
              <a:t> the folder </a:t>
            </a:r>
            <a:r>
              <a:rPr lang="fr-FR" sz="1200" i="1" dirty="0" err="1"/>
              <a:t>where</a:t>
            </a:r>
            <a:r>
              <a:rPr lang="fr-FR" sz="1200" i="1" dirty="0"/>
              <a:t> all the CAD are </a:t>
            </a:r>
            <a:r>
              <a:rPr lang="fr-FR" sz="1200" i="1" dirty="0" err="1"/>
              <a:t>stored</a:t>
            </a:r>
            <a:r>
              <a:rPr lang="fr-FR" sz="1200" i="1" dirty="0"/>
              <a:t> in local, </a:t>
            </a:r>
            <a:r>
              <a:rPr lang="fr-FR" sz="1200" i="1" dirty="0" err="1"/>
              <a:t>when</a:t>
            </a:r>
            <a:r>
              <a:rPr lang="fr-FR" sz="1200" i="1" dirty="0"/>
              <a:t> </a:t>
            </a:r>
            <a:r>
              <a:rPr lang="fr-FR" sz="1200" i="1" dirty="0" err="1"/>
              <a:t>finding</a:t>
            </a:r>
            <a:r>
              <a:rPr lang="fr-FR" sz="1200" i="1" dirty="0"/>
              <a:t> an « .</a:t>
            </a:r>
            <a:r>
              <a:rPr lang="fr-FR" sz="1200" i="1" dirty="0" err="1"/>
              <a:t>stl</a:t>
            </a:r>
            <a:r>
              <a:rPr lang="fr-FR" sz="1200" i="1" dirty="0"/>
              <a:t> » file the </a:t>
            </a:r>
            <a:r>
              <a:rPr lang="fr-FR" sz="1200" i="1" dirty="0" err="1"/>
              <a:t>method</a:t>
            </a:r>
            <a:r>
              <a:rPr lang="fr-FR" sz="1200" i="1" dirty="0"/>
              <a:t> </a:t>
            </a:r>
            <a:r>
              <a:rPr lang="fr-FR" sz="1200" i="1" dirty="0" err="1"/>
              <a:t>will</a:t>
            </a:r>
            <a:r>
              <a:rPr lang="fr-FR" sz="1200" i="1" dirty="0"/>
              <a:t> </a:t>
            </a:r>
            <a:r>
              <a:rPr lang="fr-FR" sz="1200" i="1" dirty="0" err="1"/>
              <a:t>create</a:t>
            </a:r>
            <a:r>
              <a:rPr lang="fr-FR" sz="1200" i="1" dirty="0"/>
              <a:t> an </a:t>
            </a:r>
            <a:r>
              <a:rPr lang="fr-FR" sz="1200" i="1" dirty="0" err="1"/>
              <a:t>appropriate</a:t>
            </a:r>
            <a:r>
              <a:rPr lang="fr-FR" sz="1200" i="1" dirty="0"/>
              <a:t> document to store the </a:t>
            </a:r>
            <a:r>
              <a:rPr lang="fr-FR" sz="1200" i="1" dirty="0" err="1"/>
              <a:t>reference</a:t>
            </a:r>
            <a:r>
              <a:rPr lang="fr-FR" sz="1200" i="1" dirty="0"/>
              <a:t> of the CAD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F3F9BDF-DDA2-3D35-C31E-483CBCE9A23F}"/>
              </a:ext>
            </a:extLst>
          </p:cNvPr>
          <p:cNvSpPr txBox="1"/>
          <p:nvPr/>
        </p:nvSpPr>
        <p:spPr>
          <a:xfrm>
            <a:off x="1788599" y="4076214"/>
            <a:ext cx="953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Same</a:t>
            </a:r>
            <a:r>
              <a:rPr lang="fr-FR" sz="1200" i="1" dirty="0"/>
              <a:t> as </a:t>
            </a:r>
            <a:r>
              <a:rPr lang="en-US" sz="1200" i="1" dirty="0" err="1"/>
              <a:t>create_all_documents_for_local_storage_case</a:t>
            </a:r>
            <a:r>
              <a:rPr lang="en-US" sz="1200" i="1" dirty="0"/>
              <a:t>(self) but the files are stored remotely and we use </a:t>
            </a:r>
            <a:r>
              <a:rPr lang="en-US" sz="1200" i="1" dirty="0" err="1"/>
              <a:t>pysftp</a:t>
            </a:r>
            <a:r>
              <a:rPr lang="en-US" sz="1200" i="1" dirty="0"/>
              <a:t> and not the </a:t>
            </a:r>
            <a:r>
              <a:rPr lang="en-US" sz="1200" i="1" dirty="0" err="1"/>
              <a:t>os</a:t>
            </a:r>
            <a:r>
              <a:rPr lang="en-US" sz="1200" i="1" dirty="0"/>
              <a:t> python library</a:t>
            </a:r>
            <a:r>
              <a:rPr lang="fr-FR" sz="1200" i="1" dirty="0"/>
              <a:t>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11EB34E-221E-B5F4-B595-CDDFDF6BBF45}"/>
              </a:ext>
            </a:extLst>
          </p:cNvPr>
          <p:cNvSpPr txBox="1"/>
          <p:nvPr/>
        </p:nvSpPr>
        <p:spPr>
          <a:xfrm>
            <a:off x="1788599" y="4771915"/>
            <a:ext cx="9287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Upload one or more documents to the database , in a specific collection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BC2FD6E-88E3-9449-1D34-D2C48C2F041A}"/>
              </a:ext>
            </a:extLst>
          </p:cNvPr>
          <p:cNvSpPr txBox="1"/>
          <p:nvPr/>
        </p:nvSpPr>
        <p:spPr>
          <a:xfrm>
            <a:off x="1788598" y="5464411"/>
            <a:ext cx="10255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Load</a:t>
            </a:r>
            <a:r>
              <a:rPr lang="fr-FR" sz="1200" i="1" dirty="0"/>
              <a:t> the datas </a:t>
            </a:r>
            <a:r>
              <a:rPr lang="fr-FR" sz="1200" i="1" dirty="0" err="1"/>
              <a:t>from</a:t>
            </a:r>
            <a:r>
              <a:rPr lang="fr-FR" sz="1200" i="1" dirty="0"/>
              <a:t> a </a:t>
            </a:r>
            <a:r>
              <a:rPr lang="fr-FR" sz="1200" i="1" dirty="0" err="1"/>
              <a:t>specific</a:t>
            </a:r>
            <a:r>
              <a:rPr lang="fr-FR" sz="1200" i="1" dirty="0"/>
              <a:t> collection </a:t>
            </a:r>
            <a:r>
              <a:rPr lang="fr-FR" sz="1200" i="1" dirty="0" err="1"/>
              <a:t>that</a:t>
            </a:r>
            <a:r>
              <a:rPr lang="fr-FR" sz="1200" i="1" dirty="0"/>
              <a:t> respect the </a:t>
            </a:r>
            <a:r>
              <a:rPr lang="fr-FR" sz="1200" i="1" dirty="0" err="1"/>
              <a:t>query</a:t>
            </a:r>
            <a:r>
              <a:rPr lang="fr-FR" sz="1200" i="1" dirty="0"/>
              <a:t> conditions. </a:t>
            </a:r>
            <a:r>
              <a:rPr lang="fr-FR" sz="1200" i="1" dirty="0" err="1"/>
              <a:t>We</a:t>
            </a:r>
            <a:r>
              <a:rPr lang="fr-FR" sz="1200" i="1" dirty="0"/>
              <a:t> can </a:t>
            </a:r>
            <a:r>
              <a:rPr lang="fr-FR" sz="1200" i="1" dirty="0" err="1"/>
              <a:t>precise</a:t>
            </a:r>
            <a:r>
              <a:rPr lang="fr-FR" sz="1200" i="1" dirty="0"/>
              <a:t> </a:t>
            </a:r>
            <a:r>
              <a:rPr lang="fr-FR" sz="1200" i="1" dirty="0" err="1"/>
              <a:t>which</a:t>
            </a:r>
            <a:r>
              <a:rPr lang="fr-FR" sz="1200" i="1" dirty="0"/>
              <a:t> </a:t>
            </a:r>
            <a:r>
              <a:rPr lang="fr-FR" sz="1200" i="1" dirty="0" err="1"/>
              <a:t>fields</a:t>
            </a:r>
            <a:r>
              <a:rPr lang="fr-FR" sz="1200" i="1" dirty="0"/>
              <a:t> of the documents </a:t>
            </a:r>
            <a:r>
              <a:rPr lang="fr-FR" sz="1200" i="1" dirty="0" err="1"/>
              <a:t>we</a:t>
            </a:r>
            <a:r>
              <a:rPr lang="fr-FR" sz="1200" i="1" dirty="0"/>
              <a:t> </a:t>
            </a:r>
            <a:r>
              <a:rPr lang="fr-FR" sz="1200" i="1" dirty="0" err="1"/>
              <a:t>want</a:t>
            </a:r>
            <a:r>
              <a:rPr lang="fr-FR" sz="1200" i="1" dirty="0"/>
              <a:t> (</a:t>
            </a:r>
            <a:r>
              <a:rPr lang="fr-FR" sz="1200" i="1" dirty="0" err="1"/>
              <a:t>fields_to_include</a:t>
            </a:r>
            <a:r>
              <a:rPr lang="fr-FR" sz="1200" i="1" dirty="0"/>
              <a:t>). </a:t>
            </a:r>
            <a:r>
              <a:rPr lang="fr-FR" sz="1200" i="1" dirty="0" err="1"/>
              <a:t>Also</a:t>
            </a:r>
            <a:r>
              <a:rPr lang="fr-FR" sz="1200" i="1" dirty="0"/>
              <a:t> if the datas are </a:t>
            </a:r>
            <a:r>
              <a:rPr lang="fr-FR" sz="1200" i="1" dirty="0" err="1"/>
              <a:t>stored</a:t>
            </a:r>
            <a:r>
              <a:rPr lang="fr-FR" sz="1200" i="1" dirty="0"/>
              <a:t> </a:t>
            </a:r>
            <a:r>
              <a:rPr lang="fr-FR" sz="1200" i="1" dirty="0" err="1"/>
              <a:t>remotely</a:t>
            </a:r>
            <a:r>
              <a:rPr lang="fr-FR" sz="1200" i="1" dirty="0"/>
              <a:t>, </a:t>
            </a:r>
            <a:r>
              <a:rPr lang="fr-FR" sz="1200" i="1" dirty="0" err="1"/>
              <a:t>they</a:t>
            </a:r>
            <a:r>
              <a:rPr lang="fr-FR" sz="1200" i="1" dirty="0"/>
              <a:t> are </a:t>
            </a:r>
            <a:r>
              <a:rPr lang="fr-FR" sz="1200" i="1" dirty="0" err="1"/>
              <a:t>downloaded</a:t>
            </a:r>
            <a:r>
              <a:rPr lang="fr-FR" sz="1200" i="1" dirty="0"/>
              <a:t> to the </a:t>
            </a:r>
            <a:r>
              <a:rPr lang="fr-FR" sz="1200" i="1" dirty="0" err="1"/>
              <a:t>specific</a:t>
            </a:r>
            <a:r>
              <a:rPr lang="fr-FR" sz="1200" i="1" dirty="0"/>
              <a:t> local </a:t>
            </a:r>
            <a:r>
              <a:rPr lang="fr-FR" sz="1200" i="1" dirty="0" err="1"/>
              <a:t>path</a:t>
            </a:r>
            <a:r>
              <a:rPr lang="fr-FR" sz="1200" i="1" dirty="0"/>
              <a:t> to download </a:t>
            </a:r>
          </a:p>
        </p:txBody>
      </p:sp>
    </p:spTree>
    <p:extLst>
      <p:ext uri="{BB962C8B-B14F-4D97-AF65-F5344CB8AC3E}">
        <p14:creationId xmlns:p14="http://schemas.microsoft.com/office/powerpoint/2010/main" val="97297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C88EB2-CE35-FBE5-B6EB-31A1C1E02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69113"/>
            <a:ext cx="9144000" cy="1344168"/>
          </a:xfrm>
        </p:spPr>
        <p:txBody>
          <a:bodyPr/>
          <a:lstStyle/>
          <a:p>
            <a:r>
              <a:rPr lang="en-GB" dirty="0"/>
              <a:t>Files organization for Python upload code (local or remote)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B34D3F8-6448-CC98-C6D2-855512BA5083}"/>
              </a:ext>
            </a:extLst>
          </p:cNvPr>
          <p:cNvSpPr txBox="1"/>
          <p:nvPr/>
        </p:nvSpPr>
        <p:spPr>
          <a:xfrm>
            <a:off x="1140546" y="2594751"/>
            <a:ext cx="2168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Manipulation object databases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ABBE0610-E6B1-93E6-36EE-F9E9B84A9AD7}"/>
              </a:ext>
            </a:extLst>
          </p:cNvPr>
          <p:cNvCxnSpPr>
            <a:cxnSpLocks/>
          </p:cNvCxnSpPr>
          <p:nvPr/>
        </p:nvCxnSpPr>
        <p:spPr>
          <a:xfrm flipV="1">
            <a:off x="3582185" y="2782807"/>
            <a:ext cx="4053525" cy="134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FDC92B4B-4812-722D-E4A5-74E4E096C3BF}"/>
              </a:ext>
            </a:extLst>
          </p:cNvPr>
          <p:cNvSpPr txBox="1"/>
          <p:nvPr/>
        </p:nvSpPr>
        <p:spPr>
          <a:xfrm>
            <a:off x="7635710" y="2606566"/>
            <a:ext cx="204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Root folder</a:t>
            </a:r>
          </a:p>
        </p:txBody>
      </p: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7485CB48-F2BB-4084-7541-3C42ACF37E9C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>
          <a:xfrm rot="16200000" flipH="1">
            <a:off x="2592570" y="2873188"/>
            <a:ext cx="348345" cy="10841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3DD560CB-8286-B9C1-91BD-78B7BF300A9B}"/>
              </a:ext>
            </a:extLst>
          </p:cNvPr>
          <p:cNvSpPr txBox="1"/>
          <p:nvPr/>
        </p:nvSpPr>
        <p:spPr>
          <a:xfrm>
            <a:off x="3308808" y="3404761"/>
            <a:ext cx="118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Fabwave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D256AA7-C1CB-7A64-B8BB-A9DA26376733}"/>
              </a:ext>
            </a:extLst>
          </p:cNvPr>
          <p:cNvSpPr txBox="1"/>
          <p:nvPr/>
        </p:nvSpPr>
        <p:spPr>
          <a:xfrm>
            <a:off x="3440784" y="3855563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ABC</a:t>
            </a:r>
          </a:p>
        </p:txBody>
      </p: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1543292B-8F08-0BA5-769F-F38CBCB90255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2433157" y="3032601"/>
            <a:ext cx="799147" cy="12161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ccolade fermante 19">
            <a:extLst>
              <a:ext uri="{FF2B5EF4-FFF2-40B4-BE49-F238E27FC236}">
                <a16:creationId xmlns:a16="http://schemas.microsoft.com/office/drawing/2014/main" id="{9A981EF7-E6BA-F077-C40C-74BC19F8CE03}"/>
              </a:ext>
            </a:extLst>
          </p:cNvPr>
          <p:cNvSpPr/>
          <p:nvPr/>
        </p:nvSpPr>
        <p:spPr>
          <a:xfrm>
            <a:off x="4490301" y="3453238"/>
            <a:ext cx="65987" cy="6354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814FAADD-2E94-9CEC-41CE-84BD978B4533}"/>
              </a:ext>
            </a:extLst>
          </p:cNvPr>
          <p:cNvCxnSpPr>
            <a:stCxn id="20" idx="1"/>
          </p:cNvCxnSpPr>
          <p:nvPr/>
        </p:nvCxnSpPr>
        <p:spPr>
          <a:xfrm>
            <a:off x="4556288" y="3770972"/>
            <a:ext cx="3079423" cy="3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50EB7F8B-1B4A-981B-4590-589985F1238A}"/>
              </a:ext>
            </a:extLst>
          </p:cNvPr>
          <p:cNvSpPr txBox="1"/>
          <p:nvPr/>
        </p:nvSpPr>
        <p:spPr>
          <a:xfrm>
            <a:off x="7701697" y="3541701"/>
            <a:ext cx="3167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Folders name after the source database of the CAD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5B145F7-8E67-4109-1B71-E9AE3110930F}"/>
              </a:ext>
            </a:extLst>
          </p:cNvPr>
          <p:cNvSpPr txBox="1"/>
          <p:nvPr/>
        </p:nvSpPr>
        <p:spPr>
          <a:xfrm>
            <a:off x="1442490" y="5122010"/>
            <a:ext cx="118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Fabwave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78F7101-A2C4-948C-265A-73A531B73E99}"/>
              </a:ext>
            </a:extLst>
          </p:cNvPr>
          <p:cNvSpPr txBox="1"/>
          <p:nvPr/>
        </p:nvSpPr>
        <p:spPr>
          <a:xfrm>
            <a:off x="1517904" y="4487159"/>
            <a:ext cx="9058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Two types of source: with classified by name CAD or non-classified CAD</a:t>
            </a:r>
          </a:p>
        </p:txBody>
      </p: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4C2E7D36-69E5-0AC5-E416-359175607C45}"/>
              </a:ext>
            </a:extLst>
          </p:cNvPr>
          <p:cNvCxnSpPr>
            <a:stCxn id="24" idx="2"/>
          </p:cNvCxnSpPr>
          <p:nvPr/>
        </p:nvCxnSpPr>
        <p:spPr>
          <a:xfrm rot="16200000" flipH="1">
            <a:off x="2155019" y="5369559"/>
            <a:ext cx="183594" cy="4271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49B3D33F-2396-4AA5-084E-3F48DF193886}"/>
              </a:ext>
            </a:extLst>
          </p:cNvPr>
          <p:cNvSpPr txBox="1"/>
          <p:nvPr/>
        </p:nvSpPr>
        <p:spPr>
          <a:xfrm>
            <a:off x="2413639" y="5504221"/>
            <a:ext cx="118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Bearings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291D986-5B47-6EB4-A597-0A9C3104D459}"/>
              </a:ext>
            </a:extLst>
          </p:cNvPr>
          <p:cNvSpPr txBox="1"/>
          <p:nvPr/>
        </p:nvSpPr>
        <p:spPr>
          <a:xfrm>
            <a:off x="2460396" y="5873553"/>
            <a:ext cx="980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Bolts</a:t>
            </a:r>
          </a:p>
        </p:txBody>
      </p: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7661059A-0D96-800E-4638-69AEEF9256EB}"/>
              </a:ext>
            </a:extLst>
          </p:cNvPr>
          <p:cNvCxnSpPr>
            <a:stCxn id="24" idx="2"/>
            <a:endCxn id="31" idx="1"/>
          </p:cNvCxnSpPr>
          <p:nvPr/>
        </p:nvCxnSpPr>
        <p:spPr>
          <a:xfrm rot="16200000" flipH="1">
            <a:off x="1963378" y="5561200"/>
            <a:ext cx="566877" cy="4271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ccolade fermante 33">
            <a:extLst>
              <a:ext uri="{FF2B5EF4-FFF2-40B4-BE49-F238E27FC236}">
                <a16:creationId xmlns:a16="http://schemas.microsoft.com/office/drawing/2014/main" id="{13B18CC0-7013-49D2-EEFE-12DCCAC45D03}"/>
              </a:ext>
            </a:extLst>
          </p:cNvPr>
          <p:cNvSpPr/>
          <p:nvPr/>
        </p:nvSpPr>
        <p:spPr>
          <a:xfrm>
            <a:off x="3582185" y="5491340"/>
            <a:ext cx="59704" cy="7074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C782E0A-7CF8-9348-FA59-E311885E51D6}"/>
              </a:ext>
            </a:extLst>
          </p:cNvPr>
          <p:cNvCxnSpPr>
            <a:stCxn id="34" idx="1"/>
          </p:cNvCxnSpPr>
          <p:nvPr/>
        </p:nvCxnSpPr>
        <p:spPr>
          <a:xfrm>
            <a:off x="3641889" y="5845057"/>
            <a:ext cx="675587" cy="15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BB3EC047-52DA-964B-3A62-763459F3109B}"/>
              </a:ext>
            </a:extLst>
          </p:cNvPr>
          <p:cNvSpPr txBox="1"/>
          <p:nvPr/>
        </p:nvSpPr>
        <p:spPr>
          <a:xfrm>
            <a:off x="4364232" y="5600335"/>
            <a:ext cx="2432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Directories name after the component name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613421C-C78C-1A1B-18F1-03434FA9382F}"/>
              </a:ext>
            </a:extLst>
          </p:cNvPr>
          <p:cNvSpPr txBox="1"/>
          <p:nvPr/>
        </p:nvSpPr>
        <p:spPr>
          <a:xfrm>
            <a:off x="772354" y="6363903"/>
            <a:ext cx="3376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Classified by name example</a:t>
            </a:r>
          </a:p>
        </p:txBody>
      </p:sp>
    </p:spTree>
    <p:extLst>
      <p:ext uri="{BB962C8B-B14F-4D97-AF65-F5344CB8AC3E}">
        <p14:creationId xmlns:p14="http://schemas.microsoft.com/office/powerpoint/2010/main" val="1973991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C73D8-505E-2893-1398-78F266E9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929" y="942868"/>
            <a:ext cx="9144000" cy="1772051"/>
          </a:xfrm>
        </p:spPr>
        <p:txBody>
          <a:bodyPr>
            <a:normAutofit fontScale="90000"/>
          </a:bodyPr>
          <a:lstStyle/>
          <a:p>
            <a:r>
              <a:rPr lang="fr-FR" dirty="0"/>
              <a:t>Code modifications to </a:t>
            </a:r>
            <a:r>
              <a:rPr lang="fr-FR" dirty="0" err="1"/>
              <a:t>apply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creating</a:t>
            </a:r>
            <a:r>
              <a:rPr lang="fr-FR" dirty="0"/>
              <a:t> a mongo DB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others</a:t>
            </a:r>
            <a:r>
              <a:rPr lang="fr-FR" dirty="0"/>
              <a:t> sources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provided</a:t>
            </a:r>
            <a:r>
              <a:rPr lang="fr-FR" dirty="0"/>
              <a:t> (1)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0DCB5D-A5E8-1BC2-A238-FCF96E01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929" y="2787884"/>
            <a:ext cx="9144000" cy="3127248"/>
          </a:xfrm>
        </p:spPr>
        <p:txBody>
          <a:bodyPr/>
          <a:lstStyle/>
          <a:p>
            <a:r>
              <a:rPr lang="fr-FR" dirty="0"/>
              <a:t>1. </a:t>
            </a:r>
            <a:r>
              <a:rPr lang="fr-FR" dirty="0" err="1"/>
              <a:t>Create</a:t>
            </a:r>
            <a:r>
              <a:rPr lang="fr-FR" dirty="0"/>
              <a:t> a directory </a:t>
            </a:r>
            <a:r>
              <a:rPr lang="fr-FR" dirty="0" err="1"/>
              <a:t>name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the new source </a:t>
            </a:r>
            <a:r>
              <a:rPr lang="fr-FR" dirty="0" err="1"/>
              <a:t>database</a:t>
            </a:r>
            <a:endParaRPr lang="fr-FR" dirty="0"/>
          </a:p>
          <a:p>
            <a:r>
              <a:rPr lang="fr-FR" dirty="0"/>
              <a:t>2. Put </a:t>
            </a:r>
            <a:r>
              <a:rPr lang="fr-FR" dirty="0" err="1"/>
              <a:t>your</a:t>
            </a:r>
            <a:r>
              <a:rPr lang="fr-FR" dirty="0"/>
              <a:t> CAD in the directory (</a:t>
            </a:r>
            <a:r>
              <a:rPr lang="fr-FR" dirty="0" err="1"/>
              <a:t>Keep</a:t>
            </a:r>
            <a:r>
              <a:rPr lang="fr-FR" dirty="0"/>
              <a:t> the classification </a:t>
            </a:r>
            <a:r>
              <a:rPr lang="fr-FR" dirty="0" err="1"/>
              <a:t>given</a:t>
            </a:r>
            <a:r>
              <a:rPr lang="fr-FR" dirty="0"/>
              <a:t> by the source if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)</a:t>
            </a:r>
          </a:p>
          <a:p>
            <a:r>
              <a:rPr lang="fr-FR" dirty="0"/>
              <a:t>3. </a:t>
            </a:r>
            <a:r>
              <a:rPr lang="fr-FR" dirty="0" err="1"/>
              <a:t>Add</a:t>
            </a:r>
            <a:r>
              <a:rPr lang="fr-FR" dirty="0"/>
              <a:t> the </a:t>
            </a:r>
            <a:r>
              <a:rPr lang="fr-FR" dirty="0" err="1"/>
              <a:t>name</a:t>
            </a:r>
            <a:r>
              <a:rPr lang="fr-FR" dirty="0"/>
              <a:t> of the source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  <a:p>
            <a:r>
              <a:rPr lang="fr-FR" dirty="0"/>
              <a:t>4. </a:t>
            </a:r>
            <a:r>
              <a:rPr lang="fr-FR" dirty="0" err="1"/>
              <a:t>Add</a:t>
            </a:r>
            <a:r>
              <a:rPr lang="fr-FR" dirty="0"/>
              <a:t> the </a:t>
            </a:r>
            <a:r>
              <a:rPr lang="fr-FR" dirty="0" err="1"/>
              <a:t>list</a:t>
            </a:r>
            <a:r>
              <a:rPr lang="fr-FR" dirty="0"/>
              <a:t> of components tags unique to the classification of the new source </a:t>
            </a:r>
            <a:r>
              <a:rPr lang="fr-FR" dirty="0" err="1"/>
              <a:t>database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0386A0-BA65-3CB9-606A-5E3DB4888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218" y="4248759"/>
            <a:ext cx="2202371" cy="43437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8752BCE-D4AA-7B6A-E43F-80B24F0F1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829" y="5653048"/>
            <a:ext cx="9121930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48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D3380-33A1-4CBC-E2DA-BADCA457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98" y="863480"/>
            <a:ext cx="9144000" cy="1772144"/>
          </a:xfrm>
        </p:spPr>
        <p:txBody>
          <a:bodyPr>
            <a:normAutofit fontScale="90000"/>
          </a:bodyPr>
          <a:lstStyle/>
          <a:p>
            <a:r>
              <a:rPr lang="fr-FR" dirty="0"/>
              <a:t>Code modifications to </a:t>
            </a:r>
            <a:r>
              <a:rPr lang="fr-FR" dirty="0" err="1"/>
              <a:t>apply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creating</a:t>
            </a:r>
            <a:r>
              <a:rPr lang="fr-FR" dirty="0"/>
              <a:t> a mongo DB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others</a:t>
            </a:r>
            <a:r>
              <a:rPr lang="fr-FR" dirty="0"/>
              <a:t> sources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provided</a:t>
            </a:r>
            <a:r>
              <a:rPr lang="fr-FR" dirty="0"/>
              <a:t> (2)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1D61A-0BE5-400D-29F4-B2109B6E4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898648"/>
            <a:ext cx="10255623" cy="2372599"/>
          </a:xfrm>
        </p:spPr>
        <p:txBody>
          <a:bodyPr>
            <a:normAutofit/>
          </a:bodyPr>
          <a:lstStyle/>
          <a:p>
            <a:r>
              <a:rPr lang="fr-FR" dirty="0" err="1"/>
              <a:t>Sometimes</a:t>
            </a:r>
            <a:r>
              <a:rPr lang="fr-FR" dirty="0"/>
              <a:t> the new source </a:t>
            </a:r>
            <a:r>
              <a:rPr lang="fr-FR" dirty="0" err="1"/>
              <a:t>offers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specific</a:t>
            </a:r>
            <a:r>
              <a:rPr lang="fr-FR" dirty="0"/>
              <a:t> tags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interesting</a:t>
            </a:r>
            <a:r>
              <a:rPr lang="fr-FR" dirty="0"/>
              <a:t> to </a:t>
            </a:r>
            <a:r>
              <a:rPr lang="fr-FR" dirty="0" err="1"/>
              <a:t>precise</a:t>
            </a:r>
            <a:endParaRPr lang="fr-FR" dirty="0"/>
          </a:p>
          <a:p>
            <a:r>
              <a:rPr lang="fr-FR" dirty="0"/>
              <a:t>It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en-US" dirty="0" err="1">
                <a:solidFill>
                  <a:srgbClr val="FFC66D"/>
                </a:solidFill>
                <a:effectLst/>
                <a:latin typeface="JetBrains Mono"/>
              </a:rPr>
              <a:t>create_tags_for_document</a:t>
            </a:r>
            <a:r>
              <a:rPr lang="en-US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dirty="0" err="1">
                <a:solidFill>
                  <a:srgbClr val="A9B7C6"/>
                </a:solidFill>
                <a:effectLst/>
                <a:latin typeface="JetBrains Mono"/>
              </a:rPr>
              <a:t>actual_dir</a:t>
            </a:r>
            <a:r>
              <a:rPr lang="en-US" dirty="0">
                <a:solidFill>
                  <a:srgbClr val="A9B7C6"/>
                </a:solidFill>
                <a:effectLst/>
                <a:latin typeface="JetBrains Mono"/>
              </a:rPr>
              <a:t>) </a:t>
            </a:r>
            <a:r>
              <a:rPr lang="fr-FR" dirty="0"/>
              <a:t>in the </a:t>
            </a:r>
            <a:r>
              <a:rPr lang="fr-FR" dirty="0" err="1"/>
              <a:t>form</a:t>
            </a:r>
            <a:r>
              <a:rPr lang="fr-FR" dirty="0"/>
              <a:t> mention </a:t>
            </a:r>
            <a:r>
              <a:rPr lang="fr-FR" dirty="0" err="1"/>
              <a:t>below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ED881C7-306F-80CD-8AF8-33854D88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81" y="4718112"/>
            <a:ext cx="8183190" cy="211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53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5E2A0-12D8-DE23-479C-D826FBB9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3417"/>
            <a:ext cx="9144000" cy="782235"/>
          </a:xfrm>
        </p:spPr>
        <p:txBody>
          <a:bodyPr/>
          <a:lstStyle/>
          <a:p>
            <a:r>
              <a:rPr lang="fr-FR" dirty="0"/>
              <a:t>Code Structure (2): Matlab part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FD66EAB-D10A-1284-0E78-2237C560140A}"/>
              </a:ext>
            </a:extLst>
          </p:cNvPr>
          <p:cNvSpPr txBox="1"/>
          <p:nvPr/>
        </p:nvSpPr>
        <p:spPr>
          <a:xfrm>
            <a:off x="1030941" y="1966574"/>
            <a:ext cx="302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Matlab management code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2CD2871-0BB1-DF26-7FBF-F2FAC14E784A}"/>
              </a:ext>
            </a:extLst>
          </p:cNvPr>
          <p:cNvSpPr txBox="1"/>
          <p:nvPr/>
        </p:nvSpPr>
        <p:spPr>
          <a:xfrm>
            <a:off x="3200398" y="2379240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QueryManager.m</a:t>
            </a:r>
            <a:endParaRPr lang="fr-FR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5572872-CFAD-C162-939D-0A1968059B22}"/>
              </a:ext>
            </a:extLst>
          </p:cNvPr>
          <p:cNvSpPr txBox="1"/>
          <p:nvPr/>
        </p:nvSpPr>
        <p:spPr>
          <a:xfrm>
            <a:off x="3200398" y="2791906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Main_import_remote_datas.m</a:t>
            </a:r>
            <a:endParaRPr lang="fr-FR" dirty="0"/>
          </a:p>
        </p:txBody>
      </p: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7F13A268-CF74-FA38-AADA-4C884D40A77C}"/>
              </a:ext>
            </a:extLst>
          </p:cNvPr>
          <p:cNvCxnSpPr>
            <a:cxnSpLocks/>
            <a:stCxn id="11" idx="2"/>
            <a:endCxn id="12" idx="1"/>
          </p:cNvCxnSpPr>
          <p:nvPr/>
        </p:nvCxnSpPr>
        <p:spPr>
          <a:xfrm rot="16200000" flipH="1">
            <a:off x="2756946" y="2120454"/>
            <a:ext cx="228000" cy="658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2418FD4E-5327-FA83-0B62-8FA0AA9E8D66}"/>
              </a:ext>
            </a:extLst>
          </p:cNvPr>
          <p:cNvCxnSpPr>
            <a:cxnSpLocks/>
            <a:stCxn id="11" idx="2"/>
            <a:endCxn id="13" idx="1"/>
          </p:cNvCxnSpPr>
          <p:nvPr/>
        </p:nvCxnSpPr>
        <p:spPr>
          <a:xfrm rot="16200000" flipH="1">
            <a:off x="2550613" y="2326787"/>
            <a:ext cx="640666" cy="658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68450284-F240-58C5-C66B-8940229D38B9}"/>
              </a:ext>
            </a:extLst>
          </p:cNvPr>
          <p:cNvSpPr txBox="1"/>
          <p:nvPr/>
        </p:nvSpPr>
        <p:spPr>
          <a:xfrm>
            <a:off x="3200398" y="3265589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Main_import_local_datas.m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FC87BA8-54DD-3446-D158-309646539D24}"/>
              </a:ext>
            </a:extLst>
          </p:cNvPr>
          <p:cNvSpPr txBox="1"/>
          <p:nvPr/>
        </p:nvSpPr>
        <p:spPr>
          <a:xfrm>
            <a:off x="3200397" y="3756292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JSONWriter.m</a:t>
            </a:r>
            <a:endParaRPr lang="fr-FR" b="1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D2BDE94-BDF3-E991-949A-E799D08C3FB4}"/>
              </a:ext>
            </a:extLst>
          </p:cNvPr>
          <p:cNvSpPr txBox="1"/>
          <p:nvPr/>
        </p:nvSpPr>
        <p:spPr>
          <a:xfrm>
            <a:off x="3200397" y="4168958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ImportData.m</a:t>
            </a:r>
            <a:endParaRPr lang="fr-FR" b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1BE306C-557D-B84C-6EC7-8013F597F6A1}"/>
              </a:ext>
            </a:extLst>
          </p:cNvPr>
          <p:cNvSpPr txBox="1"/>
          <p:nvPr/>
        </p:nvSpPr>
        <p:spPr>
          <a:xfrm>
            <a:off x="3200396" y="4621398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AutomatePositionning.m</a:t>
            </a:r>
            <a:endParaRPr lang="fr-FR" b="1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7E0D149-2668-9379-A975-5731A492E043}"/>
              </a:ext>
            </a:extLst>
          </p:cNvPr>
          <p:cNvSpPr txBox="1"/>
          <p:nvPr/>
        </p:nvSpPr>
        <p:spPr>
          <a:xfrm>
            <a:off x="3200395" y="5102681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Arrange_escape_character.m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7E33694-CBA1-E3B2-9352-EA11CB18096E}"/>
              </a:ext>
            </a:extLst>
          </p:cNvPr>
          <p:cNvSpPr txBox="1"/>
          <p:nvPr/>
        </p:nvSpPr>
        <p:spPr>
          <a:xfrm>
            <a:off x="3200395" y="5524767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Main_import_local_datas.m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DC01D65-3C58-56DA-23C0-CD55F344FF5D}"/>
              </a:ext>
            </a:extLst>
          </p:cNvPr>
          <p:cNvSpPr txBox="1"/>
          <p:nvPr/>
        </p:nvSpPr>
        <p:spPr>
          <a:xfrm>
            <a:off x="3200394" y="6036404"/>
            <a:ext cx="427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AddBoundariesLimitsToDataInDB.m</a:t>
            </a:r>
            <a:endParaRPr lang="fr-FR" b="1" dirty="0"/>
          </a:p>
        </p:txBody>
      </p: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D10BD33B-5D86-CF4D-E1EC-864E9852903F}"/>
              </a:ext>
            </a:extLst>
          </p:cNvPr>
          <p:cNvCxnSpPr>
            <a:stCxn id="11" idx="2"/>
            <a:endCxn id="18" idx="1"/>
          </p:cNvCxnSpPr>
          <p:nvPr/>
        </p:nvCxnSpPr>
        <p:spPr>
          <a:xfrm rot="16200000" flipH="1">
            <a:off x="2313772" y="2563628"/>
            <a:ext cx="1114349" cy="658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D137C9B9-6B51-FE37-738D-0D91A226995C}"/>
              </a:ext>
            </a:extLst>
          </p:cNvPr>
          <p:cNvCxnSpPr>
            <a:stCxn id="11" idx="2"/>
            <a:endCxn id="19" idx="1"/>
          </p:cNvCxnSpPr>
          <p:nvPr/>
        </p:nvCxnSpPr>
        <p:spPr>
          <a:xfrm rot="16200000" flipH="1">
            <a:off x="2068419" y="2808980"/>
            <a:ext cx="1605052" cy="658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12305ADD-A493-6042-2BE2-A9AC6F5516B3}"/>
              </a:ext>
            </a:extLst>
          </p:cNvPr>
          <p:cNvCxnSpPr>
            <a:stCxn id="11" idx="2"/>
            <a:endCxn id="20" idx="1"/>
          </p:cNvCxnSpPr>
          <p:nvPr/>
        </p:nvCxnSpPr>
        <p:spPr>
          <a:xfrm rot="16200000" flipH="1">
            <a:off x="1862086" y="3015313"/>
            <a:ext cx="2017718" cy="658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 : en angle 30">
            <a:extLst>
              <a:ext uri="{FF2B5EF4-FFF2-40B4-BE49-F238E27FC236}">
                <a16:creationId xmlns:a16="http://schemas.microsoft.com/office/drawing/2014/main" id="{8244D073-4B58-46DA-E2C9-B028E5FC100C}"/>
              </a:ext>
            </a:extLst>
          </p:cNvPr>
          <p:cNvCxnSpPr>
            <a:stCxn id="11" idx="2"/>
            <a:endCxn id="21" idx="1"/>
          </p:cNvCxnSpPr>
          <p:nvPr/>
        </p:nvCxnSpPr>
        <p:spPr>
          <a:xfrm rot="16200000" flipH="1">
            <a:off x="1635866" y="3241534"/>
            <a:ext cx="2470158" cy="6589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62B081DC-B623-7D51-3221-D51EEE7C8479}"/>
              </a:ext>
            </a:extLst>
          </p:cNvPr>
          <p:cNvCxnSpPr>
            <a:stCxn id="11" idx="2"/>
            <a:endCxn id="22" idx="1"/>
          </p:cNvCxnSpPr>
          <p:nvPr/>
        </p:nvCxnSpPr>
        <p:spPr>
          <a:xfrm rot="16200000" flipH="1">
            <a:off x="1395224" y="3482175"/>
            <a:ext cx="2951441" cy="6589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329EC804-DDB0-4804-01BF-322F385EF084}"/>
              </a:ext>
            </a:extLst>
          </p:cNvPr>
          <p:cNvCxnSpPr>
            <a:stCxn id="11" idx="2"/>
            <a:endCxn id="23" idx="1"/>
          </p:cNvCxnSpPr>
          <p:nvPr/>
        </p:nvCxnSpPr>
        <p:spPr>
          <a:xfrm rot="16200000" flipH="1">
            <a:off x="1184181" y="3693218"/>
            <a:ext cx="3373527" cy="6589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110E3BA2-818F-6356-7219-6A064DBA857A}"/>
              </a:ext>
            </a:extLst>
          </p:cNvPr>
          <p:cNvCxnSpPr>
            <a:stCxn id="11" idx="2"/>
            <a:endCxn id="3" idx="1"/>
          </p:cNvCxnSpPr>
          <p:nvPr/>
        </p:nvCxnSpPr>
        <p:spPr>
          <a:xfrm rot="16200000" flipH="1">
            <a:off x="928362" y="3949038"/>
            <a:ext cx="3885164" cy="6589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785A1860-7A60-189A-B10F-20BEA378CBE7}"/>
              </a:ext>
            </a:extLst>
          </p:cNvPr>
          <p:cNvSpPr txBox="1"/>
          <p:nvPr/>
        </p:nvSpPr>
        <p:spPr>
          <a:xfrm>
            <a:off x="8399929" y="1695652"/>
            <a:ext cx="2196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 </a:t>
            </a:r>
            <a:r>
              <a:rPr lang="fr-FR" b="1" dirty="0"/>
              <a:t>Bold</a:t>
            </a:r>
            <a:r>
              <a:rPr lang="fr-FR" dirty="0"/>
              <a:t> are the </a:t>
            </a:r>
            <a:r>
              <a:rPr lang="fr-FR" dirty="0" err="1"/>
              <a:t>objects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4811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43501"/>
            <a:ext cx="9144000" cy="750167"/>
          </a:xfrm>
        </p:spPr>
        <p:txBody>
          <a:bodyPr/>
          <a:lstStyle/>
          <a:p>
            <a:r>
              <a:rPr lang="fr-FR" dirty="0" err="1"/>
              <a:t>QueryManager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622607" y="2958355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Properties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7BC450-350F-135A-D0F7-6114F74DFE60}"/>
              </a:ext>
            </a:extLst>
          </p:cNvPr>
          <p:cNvSpPr txBox="1"/>
          <p:nvPr/>
        </p:nvSpPr>
        <p:spPr>
          <a:xfrm>
            <a:off x="2868702" y="3352926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array_operators</a:t>
            </a:r>
            <a:r>
              <a:rPr lang="en-US" sz="1200" dirty="0"/>
              <a:t> = {'"in"' '"all"' '"set"' '"push"' '"each"'}</a:t>
            </a:r>
            <a:endParaRPr 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75C5EB-D350-5A3B-359F-AD3C9083943B}"/>
              </a:ext>
            </a:extLst>
          </p:cNvPr>
          <p:cNvSpPr txBox="1"/>
          <p:nvPr/>
        </p:nvSpPr>
        <p:spPr>
          <a:xfrm>
            <a:off x="1506071" y="1534399"/>
            <a:ext cx="9152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 </a:t>
            </a:r>
            <a:r>
              <a:rPr lang="fr-FR" dirty="0" err="1"/>
              <a:t>give</a:t>
            </a:r>
            <a:r>
              <a:rPr lang="fr-FR" dirty="0"/>
              <a:t> </a:t>
            </a:r>
            <a:r>
              <a:rPr lang="fr-FR" dirty="0" err="1"/>
              <a:t>access</a:t>
            </a:r>
            <a:r>
              <a:rPr lang="fr-FR" dirty="0"/>
              <a:t> to the </a:t>
            </a:r>
            <a:r>
              <a:rPr lang="fr-FR" dirty="0" err="1"/>
              <a:t>necessary</a:t>
            </a:r>
            <a:r>
              <a:rPr lang="fr-FR" dirty="0"/>
              <a:t> </a:t>
            </a:r>
            <a:r>
              <a:rPr lang="fr-FR" dirty="0" err="1"/>
              <a:t>tools</a:t>
            </a:r>
            <a:r>
              <a:rPr lang="fr-FR" dirty="0"/>
              <a:t> to </a:t>
            </a:r>
            <a:r>
              <a:rPr lang="fr-FR" dirty="0" err="1"/>
              <a:t>write</a:t>
            </a:r>
            <a:r>
              <a:rPr lang="fr-FR" dirty="0"/>
              <a:t> simple </a:t>
            </a:r>
            <a:r>
              <a:rPr lang="fr-FR" dirty="0" err="1"/>
              <a:t>queries</a:t>
            </a:r>
            <a:r>
              <a:rPr lang="fr-FR" dirty="0"/>
              <a:t> for MongoDB</a:t>
            </a:r>
          </a:p>
          <a:p>
            <a:r>
              <a:rPr lang="fr-FR" b="1" dirty="0"/>
              <a:t>Objective</a:t>
            </a:r>
            <a:r>
              <a:rPr lang="fr-FR" dirty="0"/>
              <a:t>: </a:t>
            </a:r>
            <a:r>
              <a:rPr lang="fr-FR" dirty="0" err="1"/>
              <a:t>Given</a:t>
            </a:r>
            <a:r>
              <a:rPr lang="fr-FR" dirty="0"/>
              <a:t> a structure </a:t>
            </a:r>
            <a:r>
              <a:rPr lang="fr-FR" dirty="0" err="1"/>
              <a:t>corresponding</a:t>
            </a:r>
            <a:r>
              <a:rPr lang="fr-FR" dirty="0"/>
              <a:t> to the value </a:t>
            </a:r>
            <a:r>
              <a:rPr lang="fr-FR" dirty="0" err="1"/>
              <a:t>we</a:t>
            </a:r>
            <a:r>
              <a:rPr lang="fr-FR" dirty="0"/>
              <a:t> are </a:t>
            </a:r>
            <a:r>
              <a:rPr lang="fr-FR" dirty="0" err="1"/>
              <a:t>looking</a:t>
            </a:r>
            <a:r>
              <a:rPr lang="fr-FR" dirty="0"/>
              <a:t> for in a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rewrite </a:t>
            </a:r>
            <a:r>
              <a:rPr lang="fr-FR" dirty="0" err="1"/>
              <a:t>it</a:t>
            </a:r>
            <a:r>
              <a:rPr lang="fr-FR" dirty="0"/>
              <a:t> (</a:t>
            </a:r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sometimes</a:t>
            </a:r>
            <a:r>
              <a:rPr lang="fr-FR" dirty="0"/>
              <a:t> certain </a:t>
            </a:r>
            <a:r>
              <a:rPr lang="fr-FR" dirty="0" err="1"/>
              <a:t>properties</a:t>
            </a:r>
            <a:r>
              <a:rPr lang="fr-FR" dirty="0"/>
              <a:t>) to </a:t>
            </a:r>
            <a:r>
              <a:rPr lang="fr-FR" dirty="0" err="1"/>
              <a:t>obtain</a:t>
            </a:r>
            <a:r>
              <a:rPr lang="fr-FR" dirty="0"/>
              <a:t> the </a:t>
            </a:r>
            <a:r>
              <a:rPr lang="fr-FR" dirty="0" err="1"/>
              <a:t>json</a:t>
            </a:r>
            <a:r>
              <a:rPr lang="fr-FR" dirty="0"/>
              <a:t>-like </a:t>
            </a:r>
            <a:r>
              <a:rPr lang="fr-FR" dirty="0" err="1"/>
              <a:t>query</a:t>
            </a:r>
            <a:r>
              <a:rPr lang="fr-FR" dirty="0"/>
              <a:t> for the </a:t>
            </a:r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in the </a:t>
            </a:r>
            <a:r>
              <a:rPr lang="fr-FR" dirty="0" err="1"/>
              <a:t>database</a:t>
            </a:r>
            <a:r>
              <a:rPr lang="fr-FR" dirty="0"/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40776ED-88D1-EEDC-8802-20B3BBFC0DEE}"/>
              </a:ext>
            </a:extLst>
          </p:cNvPr>
          <p:cNvSpPr txBox="1"/>
          <p:nvPr/>
        </p:nvSpPr>
        <p:spPr>
          <a:xfrm>
            <a:off x="2868702" y="3614150"/>
            <a:ext cx="5683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 Cell array of the principal operators principally used in our case. Just update it with the wanted operators that will be used later</a:t>
            </a:r>
            <a:endParaRPr lang="fr-FR" sz="1200" i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A93DDB1-2FAE-8E4E-8809-3CD33FF05F3F}"/>
              </a:ext>
            </a:extLst>
          </p:cNvPr>
          <p:cNvSpPr txBox="1"/>
          <p:nvPr/>
        </p:nvSpPr>
        <p:spPr>
          <a:xfrm>
            <a:off x="1541925" y="4509347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D44AB09-0E12-521F-451B-D1973106AC70}"/>
              </a:ext>
            </a:extLst>
          </p:cNvPr>
          <p:cNvSpPr txBox="1"/>
          <p:nvPr/>
        </p:nvSpPr>
        <p:spPr>
          <a:xfrm>
            <a:off x="2788020" y="4903918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convert_from_struct_to_query</a:t>
            </a:r>
            <a:r>
              <a:rPr lang="en-US" sz="1200" dirty="0"/>
              <a:t>(obj, </a:t>
            </a:r>
            <a:r>
              <a:rPr lang="en-US" sz="1200" dirty="0" err="1"/>
              <a:t>struct_to_convert</a:t>
            </a:r>
            <a:r>
              <a:rPr lang="en-US" sz="1200" dirty="0"/>
              <a:t>)</a:t>
            </a:r>
            <a:endParaRPr lang="fr-FR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702F311-FB62-4030-AE0C-E0BB9A60D554}"/>
              </a:ext>
            </a:extLst>
          </p:cNvPr>
          <p:cNvSpPr txBox="1"/>
          <p:nvPr/>
        </p:nvSpPr>
        <p:spPr>
          <a:xfrm>
            <a:off x="2788020" y="5165142"/>
            <a:ext cx="568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From a structure containing the operators without the char $,it creates a query and add the necessary char $ at the willing position. After converting the struct into a JSON like string, it will look for the positions of the operators that are stored in </a:t>
            </a:r>
            <a:r>
              <a:rPr lang="en-US" sz="1200" i="1" dirty="0" err="1"/>
              <a:t>array_operators</a:t>
            </a:r>
            <a:r>
              <a:rPr lang="en-US" sz="1200" i="1" dirty="0"/>
              <a:t> and add them the char $</a:t>
            </a:r>
            <a:endParaRPr lang="fr-FR" sz="1200" i="1" dirty="0"/>
          </a:p>
        </p:txBody>
      </p:sp>
    </p:spTree>
    <p:extLst>
      <p:ext uri="{BB962C8B-B14F-4D97-AF65-F5344CB8AC3E}">
        <p14:creationId xmlns:p14="http://schemas.microsoft.com/office/powerpoint/2010/main" val="2911230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93D41F-7136-FE10-A156-34585981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68280"/>
            <a:ext cx="9144000" cy="714308"/>
          </a:xfrm>
        </p:spPr>
        <p:txBody>
          <a:bodyPr/>
          <a:lstStyle/>
          <a:p>
            <a:r>
              <a:rPr lang="fr-FR" dirty="0" err="1"/>
              <a:t>QueryManager</a:t>
            </a:r>
            <a:r>
              <a:rPr lang="fr-FR" dirty="0"/>
              <a:t> (2)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0823D8-FAE3-2F6A-0BF5-1C6AD16F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8846" y="2792506"/>
            <a:ext cx="4981508" cy="551329"/>
          </a:xfrm>
        </p:spPr>
        <p:txBody>
          <a:bodyPr/>
          <a:lstStyle/>
          <a:p>
            <a:r>
              <a:rPr lang="en-US" sz="1800" b="0" i="0" dirty="0" err="1">
                <a:effectLst/>
                <a:latin typeface="Menlo"/>
              </a:rPr>
              <a:t>test.set</a:t>
            </a:r>
            <a:r>
              <a:rPr lang="en-US" sz="1800" b="0" i="0" dirty="0">
                <a:effectLst/>
                <a:latin typeface="Menlo"/>
              </a:rPr>
              <a:t> = struct(</a:t>
            </a:r>
            <a:r>
              <a:rPr lang="en-US" sz="1800" b="0" i="0" dirty="0">
                <a:solidFill>
                  <a:srgbClr val="A709F5"/>
                </a:solidFill>
                <a:effectLst/>
                <a:latin typeface="Menlo"/>
              </a:rPr>
              <a:t>"boundaries"</a:t>
            </a:r>
            <a:r>
              <a:rPr lang="en-US" sz="1800" b="0" i="0" dirty="0">
                <a:effectLst/>
                <a:latin typeface="Menlo"/>
              </a:rPr>
              <a:t>, [-10 3]);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6AC2AA-A9CA-101B-A2B5-4F36A7DFE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4500192"/>
            <a:ext cx="6818395" cy="475221"/>
          </a:xfrm>
          <a:prstGeom prst="rect">
            <a:avLst/>
          </a:prstGeom>
        </p:spPr>
      </p:pic>
      <p:sp>
        <p:nvSpPr>
          <p:cNvPr id="6" name="Flèche : bas 5">
            <a:extLst>
              <a:ext uri="{FF2B5EF4-FFF2-40B4-BE49-F238E27FC236}">
                <a16:creationId xmlns:a16="http://schemas.microsoft.com/office/drawing/2014/main" id="{030C95C8-71CC-66AC-CFA3-519CFF1030E2}"/>
              </a:ext>
            </a:extLst>
          </p:cNvPr>
          <p:cNvSpPr/>
          <p:nvPr/>
        </p:nvSpPr>
        <p:spPr>
          <a:xfrm>
            <a:off x="4849906" y="3429000"/>
            <a:ext cx="304800" cy="99956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385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43501"/>
            <a:ext cx="9144000" cy="750167"/>
          </a:xfrm>
        </p:spPr>
        <p:txBody>
          <a:bodyPr/>
          <a:lstStyle/>
          <a:p>
            <a:r>
              <a:rPr lang="fr-FR" dirty="0" err="1"/>
              <a:t>JSONWriter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622607" y="2958355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7BC450-350F-135A-D0F7-6114F74DFE60}"/>
              </a:ext>
            </a:extLst>
          </p:cNvPr>
          <p:cNvSpPr txBox="1"/>
          <p:nvPr/>
        </p:nvSpPr>
        <p:spPr>
          <a:xfrm>
            <a:off x="2868702" y="3442449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write2jsonfile(~, filename, struct2write)</a:t>
            </a:r>
            <a:endParaRPr lang="fr-FR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51FB6A-ABBC-4C44-8FEA-56524D8E27F3}"/>
              </a:ext>
            </a:extLst>
          </p:cNvPr>
          <p:cNvSpPr txBox="1"/>
          <p:nvPr/>
        </p:nvSpPr>
        <p:spPr>
          <a:xfrm>
            <a:off x="2868701" y="3834210"/>
            <a:ext cx="62125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For a better management of the documents when load in </a:t>
            </a:r>
            <a:r>
              <a:rPr lang="en-US" sz="1200" i="1" dirty="0" err="1"/>
              <a:t>matlab</a:t>
            </a:r>
            <a:r>
              <a:rPr lang="en-US" sz="1200" i="1" dirty="0"/>
              <a:t>, they are stored into structure array. And the end there is a need to write the reference to the CAD into a JSON file for the next steps of the training.</a:t>
            </a:r>
          </a:p>
          <a:p>
            <a:r>
              <a:rPr lang="en-US" sz="1200" i="1" dirty="0"/>
              <a:t>And so this function take the file by the filename (or create it) and write the reference of the CAD in it</a:t>
            </a:r>
            <a:endParaRPr lang="fr-FR" sz="1200" i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75C5EB-D350-5A3B-359F-AD3C9083943B}"/>
              </a:ext>
            </a:extLst>
          </p:cNvPr>
          <p:cNvSpPr txBox="1"/>
          <p:nvPr/>
        </p:nvSpPr>
        <p:spPr>
          <a:xfrm>
            <a:off x="1506071" y="1534399"/>
            <a:ext cx="915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Objective</a:t>
            </a:r>
            <a:r>
              <a:rPr lang="fr-FR" dirty="0"/>
              <a:t>: To </a:t>
            </a:r>
            <a:r>
              <a:rPr lang="fr-FR" dirty="0" err="1"/>
              <a:t>write</a:t>
            </a:r>
            <a:r>
              <a:rPr lang="fr-FR" dirty="0"/>
              <a:t> the JSON files </a:t>
            </a:r>
            <a:r>
              <a:rPr lang="fr-FR" dirty="0" err="1"/>
              <a:t>necessary</a:t>
            </a:r>
            <a:r>
              <a:rPr lang="fr-FR" dirty="0"/>
              <a:t> for the </a:t>
            </a:r>
            <a:r>
              <a:rPr lang="fr-FR" dirty="0" err="1"/>
              <a:t>positionning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7721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43501"/>
            <a:ext cx="9144000" cy="750167"/>
          </a:xfrm>
        </p:spPr>
        <p:txBody>
          <a:bodyPr/>
          <a:lstStyle/>
          <a:p>
            <a:r>
              <a:rPr lang="fr-FR" b="1" dirty="0" err="1"/>
              <a:t>ImportData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622607" y="4271862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51FB6A-ABBC-4C44-8FEA-56524D8E27F3}"/>
              </a:ext>
            </a:extLst>
          </p:cNvPr>
          <p:cNvSpPr txBox="1"/>
          <p:nvPr/>
        </p:nvSpPr>
        <p:spPr>
          <a:xfrm>
            <a:off x="2868702" y="4671135"/>
            <a:ext cx="515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import_from_one_collection</a:t>
            </a:r>
            <a:r>
              <a:rPr lang="en-US" sz="1200" dirty="0"/>
              <a:t>(~ ,</a:t>
            </a:r>
            <a:r>
              <a:rPr lang="en-US" sz="1200" dirty="0" err="1"/>
              <a:t>mongodbconn</a:t>
            </a:r>
            <a:r>
              <a:rPr lang="en-US" sz="1200" dirty="0"/>
              <a:t>, </a:t>
            </a:r>
            <a:r>
              <a:rPr lang="en-US" sz="1200" dirty="0" err="1"/>
              <a:t>collectname</a:t>
            </a:r>
            <a:r>
              <a:rPr lang="en-US" sz="1200" dirty="0"/>
              <a:t>, </a:t>
            </a:r>
            <a:r>
              <a:rPr lang="en-US" sz="1200" dirty="0" err="1"/>
              <a:t>varargin</a:t>
            </a:r>
            <a:r>
              <a:rPr lang="en-US" sz="1200" dirty="0"/>
              <a:t>)</a:t>
            </a:r>
            <a:endParaRPr 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75C5EB-D350-5A3B-359F-AD3C9083943B}"/>
              </a:ext>
            </a:extLst>
          </p:cNvPr>
          <p:cNvSpPr txBox="1"/>
          <p:nvPr/>
        </p:nvSpPr>
        <p:spPr>
          <a:xfrm>
            <a:off x="1506071" y="1534399"/>
            <a:ext cx="915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Objective</a:t>
            </a:r>
            <a:r>
              <a:rPr lang="fr-FR" dirty="0"/>
              <a:t>: Object to use the « </a:t>
            </a:r>
            <a:r>
              <a:rPr lang="fr-FR" dirty="0" err="1"/>
              <a:t>find</a:t>
            </a:r>
            <a:r>
              <a:rPr lang="fr-FR" dirty="0"/>
              <a:t> » </a:t>
            </a:r>
            <a:r>
              <a:rPr lang="fr-FR" dirty="0" err="1"/>
              <a:t>function</a:t>
            </a:r>
            <a:r>
              <a:rPr lang="fr-FR" dirty="0"/>
              <a:t> of mongo DB in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ways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45044DC-155D-0050-2724-9E1148B166C8}"/>
              </a:ext>
            </a:extLst>
          </p:cNvPr>
          <p:cNvSpPr txBox="1"/>
          <p:nvPr/>
        </p:nvSpPr>
        <p:spPr>
          <a:xfrm>
            <a:off x="2949384" y="4951257"/>
            <a:ext cx="7046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Going</a:t>
            </a:r>
            <a:r>
              <a:rPr lang="fr-FR" sz="1200" i="1" dirty="0"/>
              <a:t> </a:t>
            </a:r>
            <a:r>
              <a:rPr lang="fr-FR" sz="1200" i="1" dirty="0" err="1"/>
              <a:t>further</a:t>
            </a:r>
            <a:r>
              <a:rPr lang="fr-FR" sz="1200" i="1" dirty="0"/>
              <a:t> all documents of the </a:t>
            </a:r>
            <a:r>
              <a:rPr lang="fr-FR" sz="1200" i="1" dirty="0" err="1"/>
              <a:t>database</a:t>
            </a:r>
            <a:r>
              <a:rPr lang="fr-FR" sz="1200" i="1" dirty="0"/>
              <a:t> </a:t>
            </a:r>
            <a:r>
              <a:rPr lang="fr-FR" sz="1200" i="1" dirty="0" err="1"/>
              <a:t>will</a:t>
            </a:r>
            <a:r>
              <a:rPr lang="fr-FR" sz="1200" i="1" dirty="0"/>
              <a:t> not </a:t>
            </a:r>
            <a:r>
              <a:rPr lang="fr-FR" sz="1200" i="1" dirty="0" err="1"/>
              <a:t>certainly</a:t>
            </a:r>
            <a:r>
              <a:rPr lang="fr-FR" sz="1200" i="1" dirty="0"/>
              <a:t> have the </a:t>
            </a:r>
            <a:r>
              <a:rPr lang="fr-FR" sz="1200" i="1" dirty="0" err="1"/>
              <a:t>same</a:t>
            </a:r>
            <a:r>
              <a:rPr lang="fr-FR" sz="1200" i="1" dirty="0"/>
              <a:t> </a:t>
            </a:r>
            <a:r>
              <a:rPr lang="fr-FR" sz="1200" i="1" dirty="0" err="1"/>
              <a:t>fields</a:t>
            </a:r>
            <a:r>
              <a:rPr lang="fr-FR" sz="1200" i="1" dirty="0"/>
              <a:t>, and </a:t>
            </a:r>
            <a:r>
              <a:rPr lang="fr-FR" sz="1200" i="1" dirty="0" err="1"/>
              <a:t>when</a:t>
            </a:r>
            <a:r>
              <a:rPr lang="fr-FR" sz="1200" i="1" dirty="0"/>
              <a:t> </a:t>
            </a:r>
            <a:r>
              <a:rPr lang="fr-FR" sz="1200" i="1" dirty="0" err="1"/>
              <a:t>it</a:t>
            </a:r>
            <a:r>
              <a:rPr lang="fr-FR" sz="1200" i="1" dirty="0"/>
              <a:t> </a:t>
            </a:r>
            <a:r>
              <a:rPr lang="fr-FR" sz="1200" i="1" dirty="0" err="1"/>
              <a:t>is</a:t>
            </a:r>
            <a:r>
              <a:rPr lang="fr-FR" sz="1200" i="1" dirty="0"/>
              <a:t> the case the type of variable (</a:t>
            </a:r>
            <a:r>
              <a:rPr lang="fr-FR" sz="1200" i="1" dirty="0" err="1"/>
              <a:t>cell</a:t>
            </a:r>
            <a:r>
              <a:rPr lang="fr-FR" sz="1200" i="1" dirty="0"/>
              <a:t> </a:t>
            </a:r>
            <a:r>
              <a:rPr lang="fr-FR" sz="1200" i="1" dirty="0" err="1"/>
              <a:t>array</a:t>
            </a:r>
            <a:r>
              <a:rPr lang="fr-FR" sz="1200" i="1" dirty="0"/>
              <a:t> or </a:t>
            </a:r>
            <a:r>
              <a:rPr lang="fr-FR" sz="1200" i="1" dirty="0" err="1"/>
              <a:t>struct</a:t>
            </a:r>
            <a:r>
              <a:rPr lang="fr-FR" sz="1200" i="1" dirty="0"/>
              <a:t> </a:t>
            </a:r>
            <a:r>
              <a:rPr lang="fr-FR" sz="1200" i="1" dirty="0" err="1"/>
              <a:t>array</a:t>
            </a:r>
            <a:r>
              <a:rPr lang="fr-FR" sz="1200" i="1" dirty="0"/>
              <a:t>) in </a:t>
            </a:r>
            <a:r>
              <a:rPr lang="fr-FR" sz="1200" i="1" dirty="0" err="1"/>
              <a:t>which</a:t>
            </a:r>
            <a:r>
              <a:rPr lang="fr-FR" sz="1200" i="1" dirty="0"/>
              <a:t> </a:t>
            </a:r>
            <a:r>
              <a:rPr lang="fr-FR" sz="1200" i="1" dirty="0" err="1"/>
              <a:t>they</a:t>
            </a:r>
            <a:r>
              <a:rPr lang="fr-FR" sz="1200" i="1" dirty="0"/>
              <a:t> are </a:t>
            </a:r>
            <a:r>
              <a:rPr lang="fr-FR" sz="1200" i="1" dirty="0" err="1"/>
              <a:t>stored</a:t>
            </a:r>
            <a:r>
              <a:rPr lang="fr-FR" sz="1200" i="1" dirty="0"/>
              <a:t> in </a:t>
            </a:r>
            <a:r>
              <a:rPr lang="fr-FR" sz="1200" i="1" dirty="0" err="1"/>
              <a:t>matlab</a:t>
            </a:r>
            <a:r>
              <a:rPr lang="fr-FR" sz="1200" i="1" dirty="0"/>
              <a:t> can </a:t>
            </a:r>
            <a:r>
              <a:rPr lang="fr-FR" sz="1200" i="1" dirty="0" err="1"/>
              <a:t>vary</a:t>
            </a:r>
            <a:r>
              <a:rPr lang="fr-FR" sz="1200" i="1" dirty="0"/>
              <a:t>. This </a:t>
            </a:r>
            <a:r>
              <a:rPr lang="fr-FR" sz="1200" i="1" dirty="0" err="1"/>
              <a:t>function</a:t>
            </a:r>
            <a:r>
              <a:rPr lang="fr-FR" sz="1200" i="1" dirty="0"/>
              <a:t> </a:t>
            </a:r>
            <a:r>
              <a:rPr lang="fr-FR" sz="1200" i="1" dirty="0" err="1"/>
              <a:t>is</a:t>
            </a:r>
            <a:r>
              <a:rPr lang="fr-FR" sz="1200" i="1" dirty="0"/>
              <a:t> to </a:t>
            </a:r>
            <a:r>
              <a:rPr lang="fr-FR" sz="1200" i="1" dirty="0" err="1"/>
              <a:t>homogenize</a:t>
            </a:r>
            <a:r>
              <a:rPr lang="fr-FR" sz="1200" i="1" dirty="0"/>
              <a:t> </a:t>
            </a:r>
            <a:r>
              <a:rPr lang="fr-FR" sz="1200" i="1" dirty="0" err="1"/>
              <a:t>it</a:t>
            </a:r>
            <a:r>
              <a:rPr lang="fr-FR" sz="1200" i="1" dirty="0"/>
              <a:t>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A832AF9-0E24-8B4D-4ED1-E718701A5D2B}"/>
              </a:ext>
            </a:extLst>
          </p:cNvPr>
          <p:cNvSpPr txBox="1"/>
          <p:nvPr/>
        </p:nvSpPr>
        <p:spPr>
          <a:xfrm>
            <a:off x="1622607" y="2409963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Properties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FDDB8E0-A6DE-5796-AF15-E784DF7D50A8}"/>
              </a:ext>
            </a:extLst>
          </p:cNvPr>
          <p:cNvSpPr txBox="1"/>
          <p:nvPr/>
        </p:nvSpPr>
        <p:spPr>
          <a:xfrm>
            <a:off x="3056960" y="2810797"/>
            <a:ext cx="515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field_positionning</a:t>
            </a:r>
            <a:r>
              <a:rPr lang="fr-FR" sz="1200" dirty="0"/>
              <a:t> = ["</a:t>
            </a:r>
            <a:r>
              <a:rPr lang="fr-FR" sz="1200" dirty="0" err="1"/>
              <a:t>usecase</a:t>
            </a:r>
            <a:r>
              <a:rPr lang="fr-FR" sz="1200" dirty="0"/>
              <a:t>" "position"]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B2C826F-F9FF-FD7B-D2B1-2C2F681A4595}"/>
              </a:ext>
            </a:extLst>
          </p:cNvPr>
          <p:cNvSpPr txBox="1"/>
          <p:nvPr/>
        </p:nvSpPr>
        <p:spPr>
          <a:xfrm>
            <a:off x="2949384" y="3089358"/>
            <a:ext cx="7046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As </a:t>
            </a:r>
            <a:r>
              <a:rPr lang="fr-FR" sz="1200" i="1" dirty="0" err="1"/>
              <a:t>there</a:t>
            </a:r>
            <a:r>
              <a:rPr lang="fr-FR" sz="1200" i="1" dirty="0"/>
              <a:t> </a:t>
            </a:r>
            <a:r>
              <a:rPr lang="fr-FR" sz="1200" i="1" dirty="0" err="1"/>
              <a:t>will</a:t>
            </a:r>
            <a:r>
              <a:rPr lang="fr-FR" sz="1200" i="1" dirty="0"/>
              <a:t> </a:t>
            </a:r>
            <a:r>
              <a:rPr lang="fr-FR" sz="1200" i="1" dirty="0" err="1"/>
              <a:t>be</a:t>
            </a:r>
            <a:r>
              <a:rPr lang="fr-FR" sz="1200" i="1" dirty="0"/>
              <a:t> case of the </a:t>
            </a:r>
            <a:r>
              <a:rPr lang="fr-FR" sz="1200" i="1" dirty="0" err="1"/>
              <a:t>steps</a:t>
            </a:r>
            <a:r>
              <a:rPr lang="fr-FR" sz="1200" i="1" dirty="0"/>
              <a:t> for the </a:t>
            </a:r>
            <a:r>
              <a:rPr lang="fr-FR" sz="1200" i="1" dirty="0" err="1"/>
              <a:t>positionning</a:t>
            </a:r>
            <a:r>
              <a:rPr lang="fr-FR" sz="1200" i="1" dirty="0"/>
              <a:t> of a CAD for a </a:t>
            </a:r>
            <a:r>
              <a:rPr lang="fr-FR" sz="1200" i="1" dirty="0" err="1"/>
              <a:t>specific</a:t>
            </a:r>
            <a:r>
              <a:rPr lang="fr-FR" sz="1200" i="1" dirty="0"/>
              <a:t> </a:t>
            </a:r>
            <a:r>
              <a:rPr lang="fr-FR" sz="1200" i="1" dirty="0" err="1"/>
              <a:t>usecase</a:t>
            </a:r>
            <a:r>
              <a:rPr lang="fr-FR" sz="1200" i="1" dirty="0"/>
              <a:t> are </a:t>
            </a:r>
            <a:r>
              <a:rPr lang="fr-FR" sz="1200" i="1" dirty="0" err="1"/>
              <a:t>stored</a:t>
            </a:r>
            <a:r>
              <a:rPr lang="fr-FR" sz="1200" i="1" dirty="0"/>
              <a:t> in the DB, </a:t>
            </a:r>
            <a:r>
              <a:rPr lang="fr-FR" sz="1200" i="1" dirty="0" err="1"/>
              <a:t>we</a:t>
            </a:r>
            <a:r>
              <a:rPr lang="fr-FR" sz="1200" i="1" dirty="0"/>
              <a:t> </a:t>
            </a:r>
            <a:r>
              <a:rPr lang="fr-FR" sz="1200" i="1" dirty="0" err="1"/>
              <a:t>stored</a:t>
            </a:r>
            <a:r>
              <a:rPr lang="fr-FR" sz="1200" i="1" dirty="0"/>
              <a:t> the </a:t>
            </a:r>
            <a:r>
              <a:rPr lang="fr-FR" sz="1200" i="1" dirty="0" err="1"/>
              <a:t>name</a:t>
            </a:r>
            <a:r>
              <a:rPr lang="fr-FR" sz="1200" i="1" dirty="0"/>
              <a:t> of </a:t>
            </a:r>
            <a:r>
              <a:rPr lang="fr-FR" sz="1200" i="1" dirty="0" err="1"/>
              <a:t>those</a:t>
            </a:r>
            <a:r>
              <a:rPr lang="fr-FR" sz="1200" i="1" dirty="0"/>
              <a:t> </a:t>
            </a:r>
            <a:r>
              <a:rPr lang="fr-FR" sz="1200" i="1" dirty="0" err="1"/>
              <a:t>fields</a:t>
            </a:r>
            <a:r>
              <a:rPr lang="fr-FR" sz="1200" i="1" dirty="0"/>
              <a:t> </a:t>
            </a:r>
            <a:r>
              <a:rPr lang="fr-FR" sz="1200" i="1" dirty="0" err="1"/>
              <a:t>that</a:t>
            </a:r>
            <a:r>
              <a:rPr lang="fr-FR" sz="1200" i="1" dirty="0"/>
              <a:t> </a:t>
            </a:r>
            <a:r>
              <a:rPr lang="fr-FR" sz="1200" i="1" dirty="0" err="1"/>
              <a:t>we</a:t>
            </a:r>
            <a:r>
              <a:rPr lang="fr-FR" sz="1200" i="1" dirty="0"/>
              <a:t> </a:t>
            </a:r>
            <a:r>
              <a:rPr lang="fr-FR" sz="1200" i="1" dirty="0" err="1"/>
              <a:t>want</a:t>
            </a:r>
            <a:r>
              <a:rPr lang="fr-FR" sz="1200" i="1" dirty="0"/>
              <a:t> in the </a:t>
            </a:r>
            <a:r>
              <a:rPr lang="fr-FR" sz="1200" i="1" dirty="0" err="1"/>
              <a:t>results</a:t>
            </a:r>
            <a:r>
              <a:rPr lang="fr-FR" sz="1200" i="1" dirty="0"/>
              <a:t> </a:t>
            </a:r>
            <a:r>
              <a:rPr lang="fr-FR" sz="1200" i="1" dirty="0" err="1"/>
              <a:t>after</a:t>
            </a:r>
            <a:r>
              <a:rPr lang="fr-FR" sz="1200" i="1" dirty="0"/>
              <a:t> </a:t>
            </a:r>
            <a:r>
              <a:rPr lang="fr-FR" sz="1200" i="1" dirty="0" err="1"/>
              <a:t>loading</a:t>
            </a:r>
            <a:r>
              <a:rPr lang="fr-FR" sz="1200" i="1" dirty="0"/>
              <a:t> if </a:t>
            </a:r>
            <a:r>
              <a:rPr lang="fr-FR" sz="1200" i="1" dirty="0" err="1"/>
              <a:t>they</a:t>
            </a:r>
            <a:r>
              <a:rPr lang="fr-FR" sz="1200" i="1" dirty="0"/>
              <a:t> are </a:t>
            </a:r>
            <a:r>
              <a:rPr lang="fr-FR" sz="1200" i="1" dirty="0" err="1"/>
              <a:t>present</a:t>
            </a:r>
            <a:r>
              <a:rPr lang="fr-FR" sz="12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3551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43501"/>
            <a:ext cx="9144000" cy="750167"/>
          </a:xfrm>
        </p:spPr>
        <p:txBody>
          <a:bodyPr/>
          <a:lstStyle/>
          <a:p>
            <a:r>
              <a:rPr lang="fr-FR" dirty="0" err="1"/>
              <a:t>AutomatePositionning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407454" y="2331744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Properties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7BC450-350F-135A-D0F7-6114F74DFE60}"/>
              </a:ext>
            </a:extLst>
          </p:cNvPr>
          <p:cNvSpPr txBox="1"/>
          <p:nvPr/>
        </p:nvSpPr>
        <p:spPr>
          <a:xfrm>
            <a:off x="1918443" y="2777492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y_measure</a:t>
            </a:r>
            <a:r>
              <a:rPr lang="en-US" sz="1200" dirty="0"/>
              <a:t> = 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51FB6A-ABBC-4C44-8FEA-56524D8E27F3}"/>
              </a:ext>
            </a:extLst>
          </p:cNvPr>
          <p:cNvSpPr txBox="1"/>
          <p:nvPr/>
        </p:nvSpPr>
        <p:spPr>
          <a:xfrm>
            <a:off x="1918443" y="3398870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obj_processing_target_fields</a:t>
            </a:r>
            <a:r>
              <a:rPr lang="fr-FR" sz="1200" dirty="0"/>
              <a:t> = {'</a:t>
            </a:r>
            <a:r>
              <a:rPr lang="fr-FR" sz="1200" dirty="0" err="1"/>
              <a:t>indv_transf_steps_orientation</a:t>
            </a:r>
            <a:r>
              <a:rPr lang="fr-FR" sz="1200" dirty="0"/>
              <a:t>', '</a:t>
            </a:r>
            <a:r>
              <a:rPr lang="fr-FR" sz="1200" dirty="0" err="1"/>
              <a:t>indv_transf_steps_position</a:t>
            </a:r>
            <a:r>
              <a:rPr lang="fr-FR" sz="1200" dirty="0"/>
              <a:t>'}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0003C5-DE51-6BE7-A89A-28BA4C8396B4}"/>
              </a:ext>
            </a:extLst>
          </p:cNvPr>
          <p:cNvSpPr txBox="1"/>
          <p:nvPr/>
        </p:nvSpPr>
        <p:spPr>
          <a:xfrm>
            <a:off x="1918443" y="4094571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pc_fingerbase_data</a:t>
            </a:r>
            <a:endParaRPr lang="fr-FR" sz="12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72E097-A79F-D8FA-9BE1-2C1268789688}"/>
              </a:ext>
            </a:extLst>
          </p:cNvPr>
          <p:cNvSpPr txBox="1"/>
          <p:nvPr/>
        </p:nvSpPr>
        <p:spPr>
          <a:xfrm>
            <a:off x="1918443" y="4787068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ipfb_obj</a:t>
            </a:r>
            <a:endParaRPr 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75C5EB-D350-5A3B-359F-AD3C9083943B}"/>
              </a:ext>
            </a:extLst>
          </p:cNvPr>
          <p:cNvSpPr txBox="1"/>
          <p:nvPr/>
        </p:nvSpPr>
        <p:spPr>
          <a:xfrm>
            <a:off x="1506071" y="1534399"/>
            <a:ext cx="915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Objective</a:t>
            </a:r>
            <a:r>
              <a:rPr lang="fr-FR" dirty="0"/>
              <a:t>: Object to </a:t>
            </a:r>
            <a:r>
              <a:rPr lang="fr-FR" dirty="0" err="1"/>
              <a:t>compute</a:t>
            </a:r>
            <a:r>
              <a:rPr lang="fr-FR" dirty="0"/>
              <a:t> the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to </a:t>
            </a:r>
            <a:r>
              <a:rPr lang="fr-FR" dirty="0" err="1"/>
              <a:t>obtain</a:t>
            </a:r>
            <a:r>
              <a:rPr lang="fr-FR" dirty="0"/>
              <a:t> </a:t>
            </a:r>
            <a:r>
              <a:rPr lang="fr-FR" dirty="0" err="1"/>
              <a:t>automatically</a:t>
            </a:r>
            <a:r>
              <a:rPr lang="fr-FR" dirty="0"/>
              <a:t> the </a:t>
            </a:r>
            <a:r>
              <a:rPr lang="fr-FR" dirty="0" err="1"/>
              <a:t>repositionning</a:t>
            </a:r>
            <a:r>
              <a:rPr lang="fr-FR" dirty="0"/>
              <a:t> </a:t>
            </a:r>
            <a:r>
              <a:rPr lang="fr-FR" dirty="0" err="1"/>
              <a:t>vectors</a:t>
            </a:r>
            <a:r>
              <a:rPr lang="fr-FR" dirty="0"/>
              <a:t>  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A89062-2CD0-3ECE-98D5-5D2034D702A0}"/>
              </a:ext>
            </a:extLst>
          </p:cNvPr>
          <p:cNvSpPr txBox="1"/>
          <p:nvPr/>
        </p:nvSpPr>
        <p:spPr>
          <a:xfrm>
            <a:off x="1918443" y="2990589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Standard unit value (</a:t>
            </a:r>
            <a:r>
              <a:rPr lang="fr-FR" sz="1200" i="1" dirty="0" err="1"/>
              <a:t>same</a:t>
            </a:r>
            <a:r>
              <a:rPr lang="fr-FR" sz="1200" i="1" dirty="0"/>
              <a:t> as in original code)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7FB2DF-2481-7C40-D5E7-F0F972756F98}"/>
              </a:ext>
            </a:extLst>
          </p:cNvPr>
          <p:cNvSpPr txBox="1"/>
          <p:nvPr/>
        </p:nvSpPr>
        <p:spPr>
          <a:xfrm>
            <a:off x="1918443" y="3696625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Name of the final </a:t>
            </a:r>
            <a:r>
              <a:rPr lang="fr-FR" sz="1200" i="1" dirty="0" err="1"/>
              <a:t>field</a:t>
            </a:r>
            <a:r>
              <a:rPr lang="fr-FR" sz="1200" i="1" dirty="0"/>
              <a:t> </a:t>
            </a:r>
            <a:r>
              <a:rPr lang="fr-FR" sz="1200" i="1" dirty="0" err="1"/>
              <a:t>where</a:t>
            </a:r>
            <a:r>
              <a:rPr lang="fr-FR" sz="1200" i="1" dirty="0"/>
              <a:t> to </a:t>
            </a:r>
            <a:r>
              <a:rPr lang="fr-FR" sz="1200" i="1" dirty="0" err="1"/>
              <a:t>stored</a:t>
            </a:r>
            <a:r>
              <a:rPr lang="fr-FR" sz="1200" i="1" dirty="0"/>
              <a:t> the transformation </a:t>
            </a:r>
            <a:r>
              <a:rPr lang="fr-FR" sz="1200" i="1" dirty="0" err="1"/>
              <a:t>steps</a:t>
            </a:r>
            <a:r>
              <a:rPr lang="fr-FR" sz="1200" i="1" dirty="0"/>
              <a:t> for orientation and translation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49C094-BCCB-80BE-A9AF-CC2D5BB53A27}"/>
              </a:ext>
            </a:extLst>
          </p:cNvPr>
          <p:cNvSpPr txBox="1"/>
          <p:nvPr/>
        </p:nvSpPr>
        <p:spPr>
          <a:xfrm>
            <a:off x="1918443" y="4371570"/>
            <a:ext cx="9287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As the CAD </a:t>
            </a:r>
            <a:r>
              <a:rPr lang="fr-FR" sz="1200" i="1" dirty="0" err="1"/>
              <a:t>is</a:t>
            </a:r>
            <a:r>
              <a:rPr lang="fr-FR" sz="1200" i="1" dirty="0"/>
              <a:t> position in regard to the </a:t>
            </a:r>
            <a:r>
              <a:rPr lang="fr-FR" sz="1200" i="1" dirty="0" err="1"/>
              <a:t>fingerbase</a:t>
            </a:r>
            <a:r>
              <a:rPr lang="fr-FR" sz="1200" i="1" dirty="0"/>
              <a:t>, </a:t>
            </a:r>
            <a:r>
              <a:rPr lang="fr-FR" sz="1200" i="1" dirty="0" err="1"/>
              <a:t>we</a:t>
            </a:r>
            <a:r>
              <a:rPr lang="fr-FR" sz="1200" i="1" dirty="0"/>
              <a:t> </a:t>
            </a:r>
            <a:r>
              <a:rPr lang="fr-FR" sz="1200" i="1" dirty="0" err="1"/>
              <a:t>need</a:t>
            </a:r>
            <a:r>
              <a:rPr lang="fr-FR" sz="1200" i="1" dirty="0"/>
              <a:t> to store the </a:t>
            </a:r>
            <a:r>
              <a:rPr lang="fr-FR" sz="1200" i="1" dirty="0" err="1"/>
              <a:t>fingerbase</a:t>
            </a:r>
            <a:r>
              <a:rPr lang="fr-FR" sz="1200" i="1" dirty="0"/>
              <a:t> datas (</a:t>
            </a:r>
            <a:r>
              <a:rPr lang="fr-FR" sz="1200" i="1" dirty="0" err="1"/>
              <a:t>pointcloud</a:t>
            </a:r>
            <a:r>
              <a:rPr lang="fr-FR" sz="1200" i="1" dirty="0"/>
              <a:t> </a:t>
            </a:r>
            <a:r>
              <a:rPr lang="fr-FR" sz="1200" i="1" dirty="0" err="1"/>
              <a:t>etc</a:t>
            </a:r>
            <a:r>
              <a:rPr lang="fr-FR" sz="1200" i="1" dirty="0"/>
              <a:t>) to not </a:t>
            </a:r>
            <a:r>
              <a:rPr lang="fr-FR" sz="1200" i="1" dirty="0" err="1"/>
              <a:t>replot</a:t>
            </a:r>
            <a:r>
              <a:rPr lang="fr-FR" sz="1200" i="1" dirty="0"/>
              <a:t> </a:t>
            </a:r>
            <a:r>
              <a:rPr lang="fr-FR" sz="1200" i="1" dirty="0" err="1"/>
              <a:t>it</a:t>
            </a:r>
            <a:r>
              <a:rPr lang="fr-FR" sz="1200" i="1" dirty="0"/>
              <a:t> </a:t>
            </a:r>
            <a:r>
              <a:rPr lang="fr-FR" sz="1200" i="1" dirty="0" err="1"/>
              <a:t>each</a:t>
            </a:r>
            <a:r>
              <a:rPr lang="fr-FR" sz="1200" i="1" dirty="0"/>
              <a:t> time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7499BBF-E35B-565F-726A-02231EE0F41A}"/>
              </a:ext>
            </a:extLst>
          </p:cNvPr>
          <p:cNvSpPr txBox="1"/>
          <p:nvPr/>
        </p:nvSpPr>
        <p:spPr>
          <a:xfrm>
            <a:off x="1918443" y="5064066"/>
            <a:ext cx="5665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Contain</a:t>
            </a:r>
            <a:r>
              <a:rPr lang="fr-FR" sz="1200" i="1" dirty="0"/>
              <a:t> the </a:t>
            </a:r>
            <a:r>
              <a:rPr lang="fr-FR" sz="1200" i="1" dirty="0" err="1"/>
              <a:t>object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the </a:t>
            </a:r>
            <a:r>
              <a:rPr lang="fr-FR" sz="1200" i="1" dirty="0" err="1"/>
              <a:t>entire</a:t>
            </a:r>
            <a:r>
              <a:rPr lang="fr-FR" sz="1200" i="1" dirty="0"/>
              <a:t> </a:t>
            </a:r>
            <a:r>
              <a:rPr lang="fr-FR" sz="1200" i="1" dirty="0" err="1"/>
              <a:t>preprocessing</a:t>
            </a:r>
            <a:r>
              <a:rPr lang="fr-FR" sz="1200" i="1" dirty="0"/>
              <a:t> of the </a:t>
            </a:r>
            <a:r>
              <a:rPr lang="fr-FR" sz="1200" i="1" dirty="0" err="1"/>
              <a:t>fingebase</a:t>
            </a:r>
            <a:endParaRPr lang="fr-FR" sz="1200" i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4567BB-4273-E295-9FA0-5AB658250574}"/>
              </a:ext>
            </a:extLst>
          </p:cNvPr>
          <p:cNvSpPr txBox="1"/>
          <p:nvPr/>
        </p:nvSpPr>
        <p:spPr>
          <a:xfrm>
            <a:off x="1918443" y="5432527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pc_import</a:t>
            </a:r>
            <a:endParaRPr lang="fr-FR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9FB3524-3D6E-C99E-5D08-90371F2A760E}"/>
              </a:ext>
            </a:extLst>
          </p:cNvPr>
          <p:cNvSpPr txBox="1"/>
          <p:nvPr/>
        </p:nvSpPr>
        <p:spPr>
          <a:xfrm>
            <a:off x="1918442" y="5704505"/>
            <a:ext cx="5907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Store the </a:t>
            </a:r>
            <a:r>
              <a:rPr lang="fr-FR" sz="1200" i="1" dirty="0" err="1"/>
              <a:t>object</a:t>
            </a:r>
            <a:r>
              <a:rPr lang="fr-FR" sz="1200" i="1" dirty="0"/>
              <a:t> </a:t>
            </a:r>
            <a:r>
              <a:rPr lang="fr-FR" sz="1200" i="1" dirty="0" err="1"/>
              <a:t>that</a:t>
            </a:r>
            <a:r>
              <a:rPr lang="fr-FR" sz="1200" i="1" dirty="0"/>
              <a:t> deals </a:t>
            </a:r>
            <a:r>
              <a:rPr lang="fr-FR" sz="1200" i="1" dirty="0" err="1"/>
              <a:t>with</a:t>
            </a:r>
            <a:r>
              <a:rPr lang="fr-FR" sz="1200" i="1" dirty="0"/>
              <a:t> the importation of STL files in </a:t>
            </a:r>
            <a:r>
              <a:rPr lang="fr-FR" sz="1200" i="1" dirty="0" err="1"/>
              <a:t>matlab</a:t>
            </a:r>
            <a:endParaRPr lang="fr-FR" sz="1200" i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E9371E-B142-A65C-896D-131E9EA8C240}"/>
              </a:ext>
            </a:extLst>
          </p:cNvPr>
          <p:cNvSpPr txBox="1"/>
          <p:nvPr/>
        </p:nvSpPr>
        <p:spPr>
          <a:xfrm>
            <a:off x="1918443" y="6036372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json_writer</a:t>
            </a:r>
            <a:endParaRPr lang="fr-FR" sz="12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08442F8-7CCF-5290-CBC2-60BB02120F3B}"/>
              </a:ext>
            </a:extLst>
          </p:cNvPr>
          <p:cNvSpPr txBox="1"/>
          <p:nvPr/>
        </p:nvSpPr>
        <p:spPr>
          <a:xfrm>
            <a:off x="1918442" y="6308350"/>
            <a:ext cx="4589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Store the </a:t>
            </a:r>
            <a:r>
              <a:rPr lang="fr-FR" sz="1200" i="1" dirty="0" err="1"/>
              <a:t>object</a:t>
            </a:r>
            <a:r>
              <a:rPr lang="fr-FR" sz="1200" i="1" dirty="0"/>
              <a:t> </a:t>
            </a:r>
            <a:r>
              <a:rPr lang="fr-FR" sz="1200" i="1" dirty="0" err="1"/>
              <a:t>that</a:t>
            </a:r>
            <a:r>
              <a:rPr lang="fr-FR" sz="1200" i="1" dirty="0"/>
              <a:t> deals </a:t>
            </a:r>
            <a:r>
              <a:rPr lang="fr-FR" sz="1200" i="1" dirty="0" err="1"/>
              <a:t>with</a:t>
            </a:r>
            <a:r>
              <a:rPr lang="fr-FR" sz="1200" i="1" dirty="0"/>
              <a:t> the </a:t>
            </a:r>
            <a:r>
              <a:rPr lang="fr-FR" sz="1200" i="1" dirty="0" err="1"/>
              <a:t>creation</a:t>
            </a:r>
            <a:r>
              <a:rPr lang="fr-FR" sz="1200" i="1" dirty="0"/>
              <a:t> of JSON files</a:t>
            </a:r>
          </a:p>
        </p:txBody>
      </p:sp>
    </p:spTree>
    <p:extLst>
      <p:ext uri="{BB962C8B-B14F-4D97-AF65-F5344CB8AC3E}">
        <p14:creationId xmlns:p14="http://schemas.microsoft.com/office/powerpoint/2010/main" val="406846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43501"/>
            <a:ext cx="9144000" cy="750167"/>
          </a:xfrm>
        </p:spPr>
        <p:txBody>
          <a:bodyPr/>
          <a:lstStyle/>
          <a:p>
            <a:r>
              <a:rPr lang="fr-FR" dirty="0" err="1"/>
              <a:t>AutomatePositionning</a:t>
            </a:r>
            <a:r>
              <a:rPr lang="fr-FR" dirty="0"/>
              <a:t> (2)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362630" y="1760894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7BC450-350F-135A-D0F7-6114F74DFE60}"/>
              </a:ext>
            </a:extLst>
          </p:cNvPr>
          <p:cNvSpPr txBox="1"/>
          <p:nvPr/>
        </p:nvSpPr>
        <p:spPr>
          <a:xfrm>
            <a:off x="1873619" y="2206642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center_pc_to_transform(obj, pc_filename)</a:t>
            </a:r>
            <a:endParaRPr lang="en-US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51FB6A-ABBC-4C44-8FEA-56524D8E27F3}"/>
              </a:ext>
            </a:extLst>
          </p:cNvPr>
          <p:cNvSpPr txBox="1"/>
          <p:nvPr/>
        </p:nvSpPr>
        <p:spPr>
          <a:xfrm>
            <a:off x="1873619" y="2828020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compute_transf_steps_rotation(obj, pc_targetobj)</a:t>
            </a:r>
            <a:endParaRPr lang="fr-FR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0003C5-DE51-6BE7-A89A-28BA4C8396B4}"/>
              </a:ext>
            </a:extLst>
          </p:cNvPr>
          <p:cNvSpPr txBox="1"/>
          <p:nvPr/>
        </p:nvSpPr>
        <p:spPr>
          <a:xfrm>
            <a:off x="1873619" y="3523721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compute_transf_step_translation(obj, pc_rotatedobj)</a:t>
            </a:r>
            <a:endParaRPr lang="fr-FR" sz="12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72E097-A79F-D8FA-9BE1-2C1268789688}"/>
              </a:ext>
            </a:extLst>
          </p:cNvPr>
          <p:cNvSpPr txBox="1"/>
          <p:nvPr/>
        </p:nvSpPr>
        <p:spPr>
          <a:xfrm>
            <a:off x="1873619" y="4263254"/>
            <a:ext cx="5199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json_operation_gen(obj, obj_name, pc_targetobj_filename)</a:t>
            </a:r>
            <a:endParaRPr lang="fr-FR" sz="1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A89062-2CD0-3ECE-98D5-5D2034D702A0}"/>
              </a:ext>
            </a:extLst>
          </p:cNvPr>
          <p:cNvSpPr txBox="1"/>
          <p:nvPr/>
        </p:nvSpPr>
        <p:spPr>
          <a:xfrm>
            <a:off x="1873619" y="2419739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To center the </a:t>
            </a:r>
            <a:r>
              <a:rPr lang="fr-FR" sz="1200" i="1" dirty="0" err="1"/>
              <a:t>pointcloud</a:t>
            </a:r>
            <a:r>
              <a:rPr lang="fr-FR" sz="1200" i="1" dirty="0"/>
              <a:t> </a:t>
            </a:r>
            <a:r>
              <a:rPr lang="fr-FR" sz="1200" i="1" dirty="0" err="1"/>
              <a:t>we</a:t>
            </a:r>
            <a:r>
              <a:rPr lang="fr-FR" sz="1200" i="1" dirty="0"/>
              <a:t> </a:t>
            </a:r>
            <a:r>
              <a:rPr lang="fr-FR" sz="1200" i="1" dirty="0" err="1"/>
              <a:t>want</a:t>
            </a:r>
            <a:r>
              <a:rPr lang="fr-FR" sz="1200" i="1" dirty="0"/>
              <a:t> in regard to the </a:t>
            </a:r>
            <a:r>
              <a:rPr lang="fr-FR" sz="1200" i="1" dirty="0" err="1"/>
              <a:t>fingerbase</a:t>
            </a:r>
            <a:endParaRPr lang="fr-FR" sz="1200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7FB2DF-2481-7C40-D5E7-F0F972756F98}"/>
              </a:ext>
            </a:extLst>
          </p:cNvPr>
          <p:cNvSpPr txBox="1"/>
          <p:nvPr/>
        </p:nvSpPr>
        <p:spPr>
          <a:xfrm>
            <a:off x="1873619" y="3090188"/>
            <a:ext cx="85971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Compute</a:t>
            </a:r>
            <a:r>
              <a:rPr lang="fr-FR" sz="1200" i="1" dirty="0"/>
              <a:t> </a:t>
            </a:r>
            <a:r>
              <a:rPr lang="fr-FR" sz="1200" i="1" dirty="0" err="1"/>
              <a:t>automatically</a:t>
            </a:r>
            <a:r>
              <a:rPr lang="fr-FR" sz="1200" i="1" dirty="0"/>
              <a:t> the orientations </a:t>
            </a:r>
            <a:r>
              <a:rPr lang="fr-FR" sz="1200" i="1" dirty="0" err="1"/>
              <a:t>steps</a:t>
            </a:r>
            <a:r>
              <a:rPr lang="fr-FR" sz="1200" i="1" dirty="0"/>
              <a:t> by a simple </a:t>
            </a:r>
            <a:r>
              <a:rPr lang="fr-FR" sz="1200" i="1" dirty="0" err="1"/>
              <a:t>though</a:t>
            </a:r>
            <a:r>
              <a:rPr lang="fr-FR" sz="1200" i="1" dirty="0"/>
              <a:t> ( to aligne the longer </a:t>
            </a:r>
            <a:r>
              <a:rPr lang="fr-FR" sz="1200" i="1" dirty="0" err="1"/>
              <a:t>boundary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the Z axis)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49C094-BCCB-80BE-A9AF-CC2D5BB53A27}"/>
              </a:ext>
            </a:extLst>
          </p:cNvPr>
          <p:cNvSpPr txBox="1"/>
          <p:nvPr/>
        </p:nvSpPr>
        <p:spPr>
          <a:xfrm>
            <a:off x="1873619" y="3800720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Compute</a:t>
            </a:r>
            <a:r>
              <a:rPr lang="fr-FR" sz="1200" i="1" dirty="0"/>
              <a:t> the translation </a:t>
            </a:r>
            <a:r>
              <a:rPr lang="fr-FR" sz="1200" i="1" dirty="0" err="1"/>
              <a:t>steps</a:t>
            </a:r>
            <a:r>
              <a:rPr lang="fr-FR" sz="1200" i="1" dirty="0"/>
              <a:t> part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7499BBF-E35B-565F-726A-02231EE0F41A}"/>
              </a:ext>
            </a:extLst>
          </p:cNvPr>
          <p:cNvSpPr txBox="1"/>
          <p:nvPr/>
        </p:nvSpPr>
        <p:spPr>
          <a:xfrm>
            <a:off x="1873619" y="4493216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Create</a:t>
            </a:r>
            <a:r>
              <a:rPr lang="fr-FR" sz="1200" i="1" dirty="0"/>
              <a:t> the JSON for the </a:t>
            </a:r>
            <a:r>
              <a:rPr lang="fr-FR" sz="1200" i="1" dirty="0" err="1"/>
              <a:t>given</a:t>
            </a:r>
            <a:r>
              <a:rPr lang="fr-FR" sz="1200" i="1" dirty="0"/>
              <a:t> </a:t>
            </a:r>
            <a:r>
              <a:rPr lang="fr-FR" sz="1200" i="1" dirty="0" err="1"/>
              <a:t>object</a:t>
            </a:r>
            <a:endParaRPr lang="fr-FR" sz="1200" i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4567BB-4273-E295-9FA0-5AB658250574}"/>
              </a:ext>
            </a:extLst>
          </p:cNvPr>
          <p:cNvSpPr txBox="1"/>
          <p:nvPr/>
        </p:nvSpPr>
        <p:spPr>
          <a:xfrm>
            <a:off x="1873619" y="4861677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create_fingerbase(obj)</a:t>
            </a:r>
            <a:endParaRPr lang="fr-FR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9FB3524-3D6E-C99E-5D08-90371F2A760E}"/>
              </a:ext>
            </a:extLst>
          </p:cNvPr>
          <p:cNvSpPr txBox="1"/>
          <p:nvPr/>
        </p:nvSpPr>
        <p:spPr>
          <a:xfrm>
            <a:off x="1873619" y="5133655"/>
            <a:ext cx="5576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As the </a:t>
            </a:r>
            <a:r>
              <a:rPr lang="fr-FR" sz="1200" i="1" dirty="0" err="1"/>
              <a:t>name</a:t>
            </a:r>
            <a:r>
              <a:rPr lang="fr-FR" sz="1200" i="1" dirty="0"/>
              <a:t> </a:t>
            </a:r>
            <a:r>
              <a:rPr lang="fr-FR" sz="1200" i="1" dirty="0" err="1"/>
              <a:t>said</a:t>
            </a:r>
            <a:r>
              <a:rPr lang="fr-FR" sz="1200" i="1" dirty="0"/>
              <a:t> , </a:t>
            </a:r>
            <a:r>
              <a:rPr lang="fr-FR" sz="1200" i="1" dirty="0" err="1"/>
              <a:t>load</a:t>
            </a:r>
            <a:r>
              <a:rPr lang="fr-FR" sz="1200" i="1" dirty="0"/>
              <a:t> the </a:t>
            </a:r>
            <a:r>
              <a:rPr lang="fr-FR" sz="1200" i="1" dirty="0" err="1"/>
              <a:t>pointcloud</a:t>
            </a:r>
            <a:r>
              <a:rPr lang="fr-FR" sz="1200" i="1" dirty="0"/>
              <a:t> of the </a:t>
            </a:r>
            <a:r>
              <a:rPr lang="fr-FR" sz="1200" i="1" dirty="0" err="1"/>
              <a:t>fingerbase</a:t>
            </a:r>
            <a:r>
              <a:rPr lang="fr-FR" sz="1200" i="1" dirty="0"/>
              <a:t> and </a:t>
            </a:r>
            <a:r>
              <a:rPr lang="fr-FR" sz="1200" i="1" dirty="0" err="1"/>
              <a:t>preprocess</a:t>
            </a:r>
            <a:r>
              <a:rPr lang="fr-FR" sz="1200" i="1" dirty="0"/>
              <a:t> </a:t>
            </a:r>
            <a:r>
              <a:rPr lang="fr-FR" sz="1200" i="1" dirty="0" err="1"/>
              <a:t>it</a:t>
            </a:r>
            <a:endParaRPr lang="fr-FR" sz="1200" i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E9371E-B142-A65C-896D-131E9EA8C240}"/>
              </a:ext>
            </a:extLst>
          </p:cNvPr>
          <p:cNvSpPr txBox="1"/>
          <p:nvPr/>
        </p:nvSpPr>
        <p:spPr>
          <a:xfrm>
            <a:off x="1873618" y="5465522"/>
            <a:ext cx="5719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transform_multi_steps(obj, repos_steps, pointcloud_base)</a:t>
            </a:r>
            <a:endParaRPr lang="fr-FR" sz="12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08442F8-7CCF-5290-CBC2-60BB02120F3B}"/>
              </a:ext>
            </a:extLst>
          </p:cNvPr>
          <p:cNvSpPr txBox="1"/>
          <p:nvPr/>
        </p:nvSpPr>
        <p:spPr>
          <a:xfrm>
            <a:off x="1873618" y="5737500"/>
            <a:ext cx="4419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Execute</a:t>
            </a:r>
            <a:r>
              <a:rPr lang="fr-FR" sz="1200" i="1" dirty="0"/>
              <a:t> the </a:t>
            </a:r>
            <a:r>
              <a:rPr lang="fr-FR" sz="1200" i="1" dirty="0" err="1"/>
              <a:t>differents</a:t>
            </a:r>
            <a:r>
              <a:rPr lang="fr-FR" sz="1200" i="1" dirty="0"/>
              <a:t> </a:t>
            </a:r>
            <a:r>
              <a:rPr lang="fr-FR" sz="1200" i="1" dirty="0" err="1"/>
              <a:t>steps</a:t>
            </a:r>
            <a:r>
              <a:rPr lang="fr-FR" sz="1200" i="1" dirty="0"/>
              <a:t> of the transformation in </a:t>
            </a:r>
            <a:r>
              <a:rPr lang="fr-FR" sz="1200" i="1" dirty="0" err="1"/>
              <a:t>order</a:t>
            </a:r>
            <a:endParaRPr lang="fr-FR" sz="1200" i="1" dirty="0"/>
          </a:p>
        </p:txBody>
      </p:sp>
    </p:spTree>
    <p:extLst>
      <p:ext uri="{BB962C8B-B14F-4D97-AF65-F5344CB8AC3E}">
        <p14:creationId xmlns:p14="http://schemas.microsoft.com/office/powerpoint/2010/main" val="411559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470923"/>
            <a:ext cx="9144000" cy="750167"/>
          </a:xfrm>
        </p:spPr>
        <p:txBody>
          <a:bodyPr/>
          <a:lstStyle/>
          <a:p>
            <a:r>
              <a:rPr lang="fr-FR" dirty="0" err="1"/>
              <a:t>AutomatePositionning</a:t>
            </a:r>
            <a:r>
              <a:rPr lang="fr-FR" dirty="0"/>
              <a:t> (3)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362630" y="2711154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7BC450-350F-135A-D0F7-6114F74DFE60}"/>
              </a:ext>
            </a:extLst>
          </p:cNvPr>
          <p:cNvSpPr txBox="1"/>
          <p:nvPr/>
        </p:nvSpPr>
        <p:spPr>
          <a:xfrm>
            <a:off x="1873619" y="3156902"/>
            <a:ext cx="4509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calc_repos_centering_steps(obj, pc_targetobj, pc_fingerbase)</a:t>
            </a:r>
            <a:endParaRPr lang="en-US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51FB6A-ABBC-4C44-8FEA-56524D8E27F3}"/>
              </a:ext>
            </a:extLst>
          </p:cNvPr>
          <p:cNvSpPr txBox="1"/>
          <p:nvPr/>
        </p:nvSpPr>
        <p:spPr>
          <a:xfrm>
            <a:off x="1873619" y="3778280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calc_mid_coordinate_point(~, pc_coord_limits)</a:t>
            </a:r>
            <a:endParaRPr lang="fr-FR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0003C5-DE51-6BE7-A89A-28BA4C8396B4}"/>
              </a:ext>
            </a:extLst>
          </p:cNvPr>
          <p:cNvSpPr txBox="1"/>
          <p:nvPr/>
        </p:nvSpPr>
        <p:spPr>
          <a:xfrm>
            <a:off x="1873619" y="4473981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transform_single_step(obj, pos_vec, rot_vec, ptcloud_origin)</a:t>
            </a:r>
            <a:endParaRPr lang="fr-FR" sz="12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72E097-A79F-D8FA-9BE1-2C1268789688}"/>
              </a:ext>
            </a:extLst>
          </p:cNvPr>
          <p:cNvSpPr txBox="1"/>
          <p:nvPr/>
        </p:nvSpPr>
        <p:spPr>
          <a:xfrm>
            <a:off x="1873619" y="5213514"/>
            <a:ext cx="5199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create_rotation_matrix(~, rot_vec )</a:t>
            </a:r>
            <a:endParaRPr lang="fr-FR" sz="1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A89062-2CD0-3ECE-98D5-5D2034D702A0}"/>
              </a:ext>
            </a:extLst>
          </p:cNvPr>
          <p:cNvSpPr txBox="1"/>
          <p:nvPr/>
        </p:nvSpPr>
        <p:spPr>
          <a:xfrm>
            <a:off x="1873619" y="3369999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Compute</a:t>
            </a:r>
            <a:r>
              <a:rPr lang="fr-FR" sz="1200" i="1" dirty="0"/>
              <a:t> the </a:t>
            </a:r>
            <a:r>
              <a:rPr lang="fr-FR" sz="1200" i="1" dirty="0" err="1"/>
              <a:t>steps</a:t>
            </a:r>
            <a:r>
              <a:rPr lang="fr-FR" sz="1200" i="1" dirty="0"/>
              <a:t> </a:t>
            </a:r>
            <a:r>
              <a:rPr lang="fr-FR" sz="1200" i="1" dirty="0" err="1"/>
              <a:t>need</a:t>
            </a:r>
            <a:r>
              <a:rPr lang="fr-FR" sz="1200" i="1" dirty="0"/>
              <a:t> for </a:t>
            </a:r>
            <a:r>
              <a:rPr lang="fr-FR" sz="1200" i="1" dirty="0" err="1"/>
              <a:t>centering</a:t>
            </a:r>
            <a:r>
              <a:rPr lang="fr-FR" sz="1200" i="1" dirty="0"/>
              <a:t> of the </a:t>
            </a:r>
            <a:r>
              <a:rPr lang="fr-FR" sz="1200" i="1" dirty="0" err="1"/>
              <a:t>pointcloud</a:t>
            </a:r>
            <a:r>
              <a:rPr lang="fr-FR" sz="1200" i="1" dirty="0"/>
              <a:t> in regard to the </a:t>
            </a:r>
            <a:r>
              <a:rPr lang="fr-FR" sz="1200" i="1" dirty="0" err="1"/>
              <a:t>fingerbase</a:t>
            </a:r>
            <a:endParaRPr lang="fr-FR" sz="1200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7FB2DF-2481-7C40-D5E7-F0F972756F98}"/>
              </a:ext>
            </a:extLst>
          </p:cNvPr>
          <p:cNvSpPr txBox="1"/>
          <p:nvPr/>
        </p:nvSpPr>
        <p:spPr>
          <a:xfrm>
            <a:off x="1873619" y="4040448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Estimate</a:t>
            </a:r>
            <a:r>
              <a:rPr lang="fr-FR" sz="1200" i="1" dirty="0"/>
              <a:t> the center of the </a:t>
            </a:r>
            <a:r>
              <a:rPr lang="fr-FR" sz="1200" i="1" dirty="0" err="1"/>
              <a:t>pointcloud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the </a:t>
            </a:r>
            <a:r>
              <a:rPr lang="fr-FR" sz="1200" i="1" dirty="0" err="1"/>
              <a:t>Xlimits</a:t>
            </a:r>
            <a:r>
              <a:rPr lang="fr-FR" sz="1200" i="1" dirty="0"/>
              <a:t>, </a:t>
            </a:r>
            <a:r>
              <a:rPr lang="fr-FR" sz="1200" i="1" dirty="0" err="1"/>
              <a:t>Ylimits</a:t>
            </a:r>
            <a:r>
              <a:rPr lang="fr-FR" sz="1200" i="1" dirty="0"/>
              <a:t> and </a:t>
            </a:r>
            <a:r>
              <a:rPr lang="fr-FR" sz="1200" i="1" dirty="0" err="1"/>
              <a:t>Zlimits</a:t>
            </a:r>
            <a:endParaRPr lang="fr-FR" sz="1200" i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49C094-BCCB-80BE-A9AF-CC2D5BB53A27}"/>
              </a:ext>
            </a:extLst>
          </p:cNvPr>
          <p:cNvSpPr txBox="1"/>
          <p:nvPr/>
        </p:nvSpPr>
        <p:spPr>
          <a:xfrm>
            <a:off x="1873619" y="4750980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Apply the transformation </a:t>
            </a:r>
            <a:r>
              <a:rPr lang="fr-FR" sz="1200" i="1" dirty="0" err="1"/>
              <a:t>need</a:t>
            </a:r>
            <a:r>
              <a:rPr lang="fr-FR" sz="1200" i="1" dirty="0"/>
              <a:t> for a single </a:t>
            </a:r>
            <a:r>
              <a:rPr lang="fr-FR" sz="1200" i="1" dirty="0" err="1"/>
              <a:t>step</a:t>
            </a:r>
            <a:r>
              <a:rPr lang="fr-FR" sz="1200" i="1" dirty="0"/>
              <a:t> to the </a:t>
            </a:r>
            <a:r>
              <a:rPr lang="fr-FR" sz="1200" i="1" dirty="0" err="1"/>
              <a:t>pointcloud</a:t>
            </a:r>
            <a:endParaRPr lang="fr-FR" sz="1200" i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7499BBF-E35B-565F-726A-02231EE0F41A}"/>
              </a:ext>
            </a:extLst>
          </p:cNvPr>
          <p:cNvSpPr txBox="1"/>
          <p:nvPr/>
        </p:nvSpPr>
        <p:spPr>
          <a:xfrm>
            <a:off x="1873619" y="5443476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Compute</a:t>
            </a:r>
            <a:r>
              <a:rPr lang="fr-FR" sz="1200" i="1" dirty="0"/>
              <a:t> the rotation  matrix for the rotation </a:t>
            </a:r>
            <a:r>
              <a:rPr lang="fr-FR" sz="1200" i="1" dirty="0" err="1"/>
              <a:t>step</a:t>
            </a:r>
            <a:endParaRPr lang="fr-FR" sz="1200" i="1" dirty="0"/>
          </a:p>
        </p:txBody>
      </p:sp>
    </p:spTree>
    <p:extLst>
      <p:ext uri="{BB962C8B-B14F-4D97-AF65-F5344CB8AC3E}">
        <p14:creationId xmlns:p14="http://schemas.microsoft.com/office/powerpoint/2010/main" val="2762725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05116"/>
            <a:ext cx="9144000" cy="670142"/>
          </a:xfrm>
        </p:spPr>
        <p:txBody>
          <a:bodyPr>
            <a:normAutofit fontScale="90000"/>
          </a:bodyPr>
          <a:lstStyle/>
          <a:p>
            <a:r>
              <a:rPr lang="fr-FR" b="1" dirty="0" err="1"/>
              <a:t>AddBoundariesLimitsToDataInDB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407454" y="3102710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Properties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7BC450-350F-135A-D0F7-6114F74DFE60}"/>
              </a:ext>
            </a:extLst>
          </p:cNvPr>
          <p:cNvSpPr txBox="1"/>
          <p:nvPr/>
        </p:nvSpPr>
        <p:spPr>
          <a:xfrm>
            <a:off x="1918443" y="3548458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mongodb</a:t>
            </a:r>
            <a:endParaRPr lang="en-US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51FB6A-ABBC-4C44-8FEA-56524D8E27F3}"/>
              </a:ext>
            </a:extLst>
          </p:cNvPr>
          <p:cNvSpPr txBox="1"/>
          <p:nvPr/>
        </p:nvSpPr>
        <p:spPr>
          <a:xfrm>
            <a:off x="1918443" y="4208144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list_documents</a:t>
            </a:r>
            <a:endParaRPr lang="fr-FR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0003C5-DE51-6BE7-A89A-28BA4C8396B4}"/>
              </a:ext>
            </a:extLst>
          </p:cNvPr>
          <p:cNvSpPr txBox="1"/>
          <p:nvPr/>
        </p:nvSpPr>
        <p:spPr>
          <a:xfrm>
            <a:off x="1918443" y="4865537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list_collections</a:t>
            </a:r>
            <a:endParaRPr lang="fr-FR" sz="12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72E097-A79F-D8FA-9BE1-2C1268789688}"/>
              </a:ext>
            </a:extLst>
          </p:cNvPr>
          <p:cNvSpPr txBox="1"/>
          <p:nvPr/>
        </p:nvSpPr>
        <p:spPr>
          <a:xfrm>
            <a:off x="1918443" y="5558034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list_documents_and_boundaries</a:t>
            </a:r>
            <a:endParaRPr 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75C5EB-D350-5A3B-359F-AD3C9083943B}"/>
              </a:ext>
            </a:extLst>
          </p:cNvPr>
          <p:cNvSpPr txBox="1"/>
          <p:nvPr/>
        </p:nvSpPr>
        <p:spPr>
          <a:xfrm>
            <a:off x="1515036" y="1737114"/>
            <a:ext cx="9152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Objective</a:t>
            </a:r>
            <a:r>
              <a:rPr lang="fr-FR" dirty="0"/>
              <a:t>: Not </a:t>
            </a:r>
            <a:r>
              <a:rPr lang="fr-FR" dirty="0" err="1"/>
              <a:t>necessary</a:t>
            </a:r>
            <a:r>
              <a:rPr lang="fr-FR" dirty="0"/>
              <a:t>, but if the proportions of </a:t>
            </a:r>
            <a:r>
              <a:rPr lang="fr-FR" dirty="0" err="1"/>
              <a:t>your</a:t>
            </a:r>
            <a:r>
              <a:rPr lang="fr-FR" dirty="0"/>
              <a:t> CAD are an </a:t>
            </a:r>
            <a:r>
              <a:rPr lang="fr-FR" dirty="0" err="1"/>
              <a:t>interesting</a:t>
            </a:r>
            <a:r>
              <a:rPr lang="fr-FR" dirty="0"/>
              <a:t> </a:t>
            </a:r>
            <a:r>
              <a:rPr lang="fr-FR" dirty="0" err="1"/>
              <a:t>factors</a:t>
            </a:r>
            <a:r>
              <a:rPr lang="fr-FR" dirty="0"/>
              <a:t> of </a:t>
            </a:r>
            <a:r>
              <a:rPr lang="fr-FR" dirty="0" err="1"/>
              <a:t>filtering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can use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property</a:t>
            </a:r>
            <a:r>
              <a:rPr lang="fr-FR" dirty="0"/>
              <a:t> to the datas to the </a:t>
            </a:r>
            <a:r>
              <a:rPr lang="fr-FR" dirty="0" err="1"/>
              <a:t>database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A89062-2CD0-3ECE-98D5-5D2034D702A0}"/>
              </a:ext>
            </a:extLst>
          </p:cNvPr>
          <p:cNvSpPr txBox="1"/>
          <p:nvPr/>
        </p:nvSpPr>
        <p:spPr>
          <a:xfrm>
            <a:off x="1918443" y="3761555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Store the </a:t>
            </a:r>
            <a:r>
              <a:rPr lang="fr-FR" sz="1200" i="1" dirty="0" err="1"/>
              <a:t>object</a:t>
            </a:r>
            <a:r>
              <a:rPr lang="fr-FR" sz="1200" i="1" dirty="0"/>
              <a:t> for the Mongo DB </a:t>
            </a:r>
            <a:r>
              <a:rPr lang="fr-FR" sz="1200" i="1" dirty="0" err="1"/>
              <a:t>connection</a:t>
            </a:r>
            <a:endParaRPr lang="fr-FR" sz="1200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7FB2DF-2481-7C40-D5E7-F0F972756F98}"/>
              </a:ext>
            </a:extLst>
          </p:cNvPr>
          <p:cNvSpPr txBox="1"/>
          <p:nvPr/>
        </p:nvSpPr>
        <p:spPr>
          <a:xfrm>
            <a:off x="1918443" y="4467591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List of all the documents in the </a:t>
            </a:r>
            <a:r>
              <a:rPr lang="fr-FR" sz="1200" i="1" dirty="0" err="1"/>
              <a:t>database</a:t>
            </a:r>
            <a:endParaRPr lang="fr-FR" sz="1200" i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49C094-BCCB-80BE-A9AF-CC2D5BB53A27}"/>
              </a:ext>
            </a:extLst>
          </p:cNvPr>
          <p:cNvSpPr txBox="1"/>
          <p:nvPr/>
        </p:nvSpPr>
        <p:spPr>
          <a:xfrm>
            <a:off x="1918443" y="5142536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List of the collections in the </a:t>
            </a:r>
            <a:r>
              <a:rPr lang="fr-FR" sz="1200" i="1" dirty="0" err="1"/>
              <a:t>database</a:t>
            </a:r>
            <a:r>
              <a:rPr lang="fr-FR" sz="1200" i="1" dirty="0"/>
              <a:t>, one in </a:t>
            </a:r>
            <a:r>
              <a:rPr lang="fr-FR" sz="1200" i="1" dirty="0" err="1"/>
              <a:t>this</a:t>
            </a:r>
            <a:r>
              <a:rPr lang="fr-FR" sz="1200" i="1" dirty="0"/>
              <a:t> case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7499BBF-E35B-565F-726A-02231EE0F41A}"/>
              </a:ext>
            </a:extLst>
          </p:cNvPr>
          <p:cNvSpPr txBox="1"/>
          <p:nvPr/>
        </p:nvSpPr>
        <p:spPr>
          <a:xfrm>
            <a:off x="1918442" y="5835032"/>
            <a:ext cx="5504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err="1"/>
              <a:t>Array</a:t>
            </a:r>
            <a:r>
              <a:rPr lang="fr-FR" sz="1200" i="1" dirty="0"/>
              <a:t> of </a:t>
            </a:r>
            <a:r>
              <a:rPr lang="fr-FR" sz="1200" i="1" dirty="0" err="1"/>
              <a:t>struct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the </a:t>
            </a:r>
            <a:r>
              <a:rPr lang="fr-FR" sz="1200" i="1" dirty="0" err="1"/>
              <a:t>reference</a:t>
            </a:r>
            <a:r>
              <a:rPr lang="fr-FR" sz="1200" i="1" dirty="0"/>
              <a:t> of a CAD and the </a:t>
            </a:r>
            <a:r>
              <a:rPr lang="fr-FR" sz="1200" i="1" dirty="0" err="1"/>
              <a:t>attributed</a:t>
            </a:r>
            <a:r>
              <a:rPr lang="fr-FR" sz="1200" i="1" dirty="0"/>
              <a:t> </a:t>
            </a:r>
            <a:r>
              <a:rPr lang="fr-FR" sz="1200" i="1" dirty="0" err="1"/>
              <a:t>boundaries</a:t>
            </a:r>
            <a:endParaRPr lang="fr-FR" sz="1200" i="1" dirty="0"/>
          </a:p>
        </p:txBody>
      </p:sp>
    </p:spTree>
    <p:extLst>
      <p:ext uri="{BB962C8B-B14F-4D97-AF65-F5344CB8AC3E}">
        <p14:creationId xmlns:p14="http://schemas.microsoft.com/office/powerpoint/2010/main" val="1940810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8D46E-D679-4A58-0BD9-FB329AA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470923"/>
            <a:ext cx="9144000" cy="750167"/>
          </a:xfrm>
        </p:spPr>
        <p:txBody>
          <a:bodyPr/>
          <a:lstStyle/>
          <a:p>
            <a:r>
              <a:rPr lang="fr-FR" b="1" dirty="0" err="1"/>
              <a:t>AddBoundariesLimitsToDataInDB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DAC3F-0C01-2380-B510-FE88CAE34D84}"/>
              </a:ext>
            </a:extLst>
          </p:cNvPr>
          <p:cNvSpPr txBox="1"/>
          <p:nvPr/>
        </p:nvSpPr>
        <p:spPr>
          <a:xfrm>
            <a:off x="1362630" y="2711154"/>
            <a:ext cx="132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Methods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7BC450-350F-135A-D0F7-6114F74DFE60}"/>
              </a:ext>
            </a:extLst>
          </p:cNvPr>
          <p:cNvSpPr txBox="1"/>
          <p:nvPr/>
        </p:nvSpPr>
        <p:spPr>
          <a:xfrm>
            <a:off x="1873619" y="3156902"/>
            <a:ext cx="4509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AddBoundariesLimitsToDataInDB(database, collections)</a:t>
            </a:r>
            <a:endParaRPr lang="en-US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51FB6A-ABBC-4C44-8FEA-56524D8E27F3}"/>
              </a:ext>
            </a:extLst>
          </p:cNvPr>
          <p:cNvSpPr txBox="1"/>
          <p:nvPr/>
        </p:nvSpPr>
        <p:spPr>
          <a:xfrm>
            <a:off x="1873619" y="3778280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findAllDocuments</a:t>
            </a:r>
            <a:r>
              <a:rPr lang="fr-FR" sz="1200" dirty="0"/>
              <a:t>(</a:t>
            </a:r>
            <a:r>
              <a:rPr lang="fr-FR" sz="1200" dirty="0" err="1"/>
              <a:t>obj</a:t>
            </a:r>
            <a:r>
              <a:rPr lang="fr-FR" sz="1200" dirty="0"/>
              <a:t>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0003C5-DE51-6BE7-A89A-28BA4C8396B4}"/>
              </a:ext>
            </a:extLst>
          </p:cNvPr>
          <p:cNvSpPr txBox="1"/>
          <p:nvPr/>
        </p:nvSpPr>
        <p:spPr>
          <a:xfrm>
            <a:off x="1873619" y="4527370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computeBoundariesForAllDatas(obj)</a:t>
            </a:r>
            <a:endParaRPr lang="fr-FR" sz="12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72E097-A79F-D8FA-9BE1-2C1268789688}"/>
              </a:ext>
            </a:extLst>
          </p:cNvPr>
          <p:cNvSpPr txBox="1"/>
          <p:nvPr/>
        </p:nvSpPr>
        <p:spPr>
          <a:xfrm>
            <a:off x="1873619" y="5213514"/>
            <a:ext cx="5199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updateBoundariesInDB(obj)</a:t>
            </a:r>
            <a:endParaRPr lang="fr-FR" sz="1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A89062-2CD0-3ECE-98D5-5D2034D702A0}"/>
              </a:ext>
            </a:extLst>
          </p:cNvPr>
          <p:cNvSpPr txBox="1"/>
          <p:nvPr/>
        </p:nvSpPr>
        <p:spPr>
          <a:xfrm>
            <a:off x="1873619" y="3369999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Constructor</a:t>
            </a:r>
            <a:r>
              <a:rPr lang="fr-FR" sz="1200" dirty="0"/>
              <a:t> of the </a:t>
            </a:r>
            <a:r>
              <a:rPr lang="fr-FR" sz="1200" dirty="0" err="1"/>
              <a:t>object</a:t>
            </a:r>
            <a:endParaRPr lang="fr-FR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7FB2DF-2481-7C40-D5E7-F0F972756F98}"/>
              </a:ext>
            </a:extLst>
          </p:cNvPr>
          <p:cNvSpPr txBox="1"/>
          <p:nvPr/>
        </p:nvSpPr>
        <p:spPr>
          <a:xfrm>
            <a:off x="1873619" y="4040448"/>
            <a:ext cx="704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Load</a:t>
            </a:r>
            <a:r>
              <a:rPr lang="fr-FR" sz="1200" dirty="0"/>
              <a:t> the </a:t>
            </a:r>
            <a:r>
              <a:rPr lang="fr-FR" sz="1200" dirty="0" err="1"/>
              <a:t>references</a:t>
            </a:r>
            <a:r>
              <a:rPr lang="fr-FR" sz="1200" dirty="0"/>
              <a:t> of all the </a:t>
            </a:r>
            <a:r>
              <a:rPr lang="fr-FR" sz="1200" dirty="0" err="1"/>
              <a:t>CADs</a:t>
            </a:r>
            <a:r>
              <a:rPr lang="fr-FR" sz="1200" dirty="0"/>
              <a:t> </a:t>
            </a:r>
            <a:r>
              <a:rPr lang="fr-FR" sz="1200" dirty="0" err="1"/>
              <a:t>present</a:t>
            </a:r>
            <a:r>
              <a:rPr lang="fr-FR" sz="1200" dirty="0"/>
              <a:t> in the DB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49C094-BCCB-80BE-A9AF-CC2D5BB53A27}"/>
              </a:ext>
            </a:extLst>
          </p:cNvPr>
          <p:cNvSpPr txBox="1"/>
          <p:nvPr/>
        </p:nvSpPr>
        <p:spPr>
          <a:xfrm>
            <a:off x="1873619" y="4750980"/>
            <a:ext cx="6535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Compute</a:t>
            </a:r>
            <a:r>
              <a:rPr lang="fr-FR" sz="1200" dirty="0"/>
              <a:t> the </a:t>
            </a:r>
            <a:r>
              <a:rPr lang="fr-FR" sz="1200" dirty="0" err="1"/>
              <a:t>references</a:t>
            </a:r>
            <a:r>
              <a:rPr lang="fr-FR" sz="1200" dirty="0"/>
              <a:t> of the </a:t>
            </a:r>
            <a:r>
              <a:rPr lang="fr-FR" sz="1200" dirty="0" err="1"/>
              <a:t>loaded</a:t>
            </a:r>
            <a:r>
              <a:rPr lang="fr-FR" sz="1200" dirty="0"/>
              <a:t> datas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7499BBF-E35B-565F-726A-02231EE0F41A}"/>
              </a:ext>
            </a:extLst>
          </p:cNvPr>
          <p:cNvSpPr txBox="1"/>
          <p:nvPr/>
        </p:nvSpPr>
        <p:spPr>
          <a:xfrm>
            <a:off x="1873619" y="5443476"/>
            <a:ext cx="400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Update in the DB the </a:t>
            </a:r>
            <a:r>
              <a:rPr lang="fr-FR" sz="1200" dirty="0" err="1"/>
              <a:t>references</a:t>
            </a:r>
            <a:r>
              <a:rPr lang="fr-FR" sz="1200" dirty="0"/>
              <a:t> of </a:t>
            </a:r>
            <a:r>
              <a:rPr lang="fr-FR" sz="1200"/>
              <a:t>the datas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410637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628E97-AD83-5347-78E7-DE2EDCB2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C8759C-6E89-3D0D-1722-5A7359825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879284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LightSeedLeftStep">
      <a:dk1>
        <a:srgbClr val="000000"/>
      </a:dk1>
      <a:lt1>
        <a:srgbClr val="FFFFFF"/>
      </a:lt1>
      <a:dk2>
        <a:srgbClr val="3E2441"/>
      </a:dk2>
      <a:lt2>
        <a:srgbClr val="E8E6E2"/>
      </a:lt2>
      <a:accent1>
        <a:srgbClr val="96A3C6"/>
      </a:accent1>
      <a:accent2>
        <a:srgbClr val="7FA7BA"/>
      </a:accent2>
      <a:accent3>
        <a:srgbClr val="82ACA8"/>
      </a:accent3>
      <a:accent4>
        <a:srgbClr val="77AE92"/>
      </a:accent4>
      <a:accent5>
        <a:srgbClr val="81AC84"/>
      </a:accent5>
      <a:accent6>
        <a:srgbClr val="8AAE77"/>
      </a:accent6>
      <a:hlink>
        <a:srgbClr val="908157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34639</TotalTime>
  <Words>2297</Words>
  <Application>Microsoft Office PowerPoint</Application>
  <PresentationFormat>Widescreen</PresentationFormat>
  <Paragraphs>210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Aharoni</vt:lpstr>
      <vt:lpstr>Arial</vt:lpstr>
      <vt:lpstr>Avenir Next LT Pro</vt:lpstr>
      <vt:lpstr>JetBrains Mono</vt:lpstr>
      <vt:lpstr>Menlo</vt:lpstr>
      <vt:lpstr>PrismaticVTI</vt:lpstr>
      <vt:lpstr>Code Explanation</vt:lpstr>
      <vt:lpstr>Mongo DB vocabulary</vt:lpstr>
      <vt:lpstr>Software / functional architecture</vt:lpstr>
      <vt:lpstr>MongoDB installation process (local)</vt:lpstr>
      <vt:lpstr>Windows Case</vt:lpstr>
      <vt:lpstr>Windows case</vt:lpstr>
      <vt:lpstr>Mongo DB Compass</vt:lpstr>
      <vt:lpstr>Mongo DB Compass</vt:lpstr>
      <vt:lpstr>MongoDB Query</vt:lpstr>
      <vt:lpstr>A simple query</vt:lpstr>
      <vt:lpstr>The difficulty when writing queries</vt:lpstr>
      <vt:lpstr>How to update the value of a field</vt:lpstr>
      <vt:lpstr>Case 1: we want to see if the tags array contains ONE specific value</vt:lpstr>
      <vt:lpstr>Case 2: we want to load data where the tags array contain multiple specific elements</vt:lpstr>
      <vt:lpstr>Case 2: </vt:lpstr>
      <vt:lpstr>Code Structure (1)</vt:lpstr>
      <vt:lpstr>Code Structure (1) 2</vt:lpstr>
      <vt:lpstr>Files organization for Python upload code (local or remote)</vt:lpstr>
      <vt:lpstr>Code modifications to apply when creating a mongo DB with others sources than those provided (1)</vt:lpstr>
      <vt:lpstr>Code modifications to apply when creating a mongo DB with others sources than those provided (2)</vt:lpstr>
      <vt:lpstr>Code Structure (2): Matlab part</vt:lpstr>
      <vt:lpstr>QueryManager</vt:lpstr>
      <vt:lpstr>QueryManager (2)</vt:lpstr>
      <vt:lpstr>JSONWriter</vt:lpstr>
      <vt:lpstr>ImportData</vt:lpstr>
      <vt:lpstr>AutomatePositionning</vt:lpstr>
      <vt:lpstr>AutomatePositionning (2)</vt:lpstr>
      <vt:lpstr>AutomatePositionning (3)</vt:lpstr>
      <vt:lpstr>AddBoundariesLimitsToDataInDB</vt:lpstr>
      <vt:lpstr>AddBoundariesLimitsToDataInDB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Concept Development of a Robot Gripper Fingertip Design Machine Learning Framework</dc:title>
  <dc:creator>Pierre Tiako</dc:creator>
  <cp:lastModifiedBy>Pierre Tiako</cp:lastModifiedBy>
  <cp:revision>17</cp:revision>
  <dcterms:created xsi:type="dcterms:W3CDTF">2023-06-09T15:51:41Z</dcterms:created>
  <dcterms:modified xsi:type="dcterms:W3CDTF">2024-03-02T14:46:58Z</dcterms:modified>
</cp:coreProperties>
</file>